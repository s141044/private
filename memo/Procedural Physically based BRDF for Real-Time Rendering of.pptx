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2" r:id="rId16"/>
    <p:sldId id="270" r:id="rId17"/>
    <p:sldId id="271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スタイルなし、表のグリッド線あり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2" autoAdjust="0"/>
    <p:restoredTop sz="94660"/>
  </p:normalViewPr>
  <p:slideViewPr>
    <p:cSldViewPr snapToGrid="0">
      <p:cViewPr varScale="1">
        <p:scale>
          <a:sx n="68" d="100"/>
          <a:sy n="68" d="100"/>
        </p:scale>
        <p:origin x="6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687C97-18DD-46AD-B79F-22424EBB7FF1}" type="datetimeFigureOut">
              <a:rPr kumimoji="1" lang="ja-JP" altLang="en-US" smtClean="0"/>
              <a:t>2025/6/29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8E6B89E-89CD-41E7-B9C1-C3DED52A10E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983656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E6B89E-89CD-41E7-B9C1-C3DED52A10EA}" type="slidenum">
              <a:rPr kumimoji="1" lang="ja-JP" altLang="en-US" smtClean="0"/>
              <a:t>11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339598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FA4CDC-7D36-4B4A-B488-116582B3A61D}" type="datetimeFigureOut">
              <a:rPr kumimoji="1" lang="ja-JP" altLang="en-US" smtClean="0"/>
              <a:t>2025/6/29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C96767-B544-4B7D-AF8C-E2739673A45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204096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FA4CDC-7D36-4B4A-B488-116582B3A61D}" type="datetimeFigureOut">
              <a:rPr kumimoji="1" lang="ja-JP" altLang="en-US" smtClean="0"/>
              <a:t>2025/6/29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C96767-B544-4B7D-AF8C-E2739673A45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973351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FA4CDC-7D36-4B4A-B488-116582B3A61D}" type="datetimeFigureOut">
              <a:rPr kumimoji="1" lang="ja-JP" altLang="en-US" smtClean="0"/>
              <a:t>2025/6/29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C96767-B544-4B7D-AF8C-E2739673A45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45556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FA4CDC-7D36-4B4A-B488-116582B3A61D}" type="datetimeFigureOut">
              <a:rPr kumimoji="1" lang="ja-JP" altLang="en-US" smtClean="0"/>
              <a:t>2025/6/29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C96767-B544-4B7D-AF8C-E2739673A45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578337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FA4CDC-7D36-4B4A-B488-116582B3A61D}" type="datetimeFigureOut">
              <a:rPr kumimoji="1" lang="ja-JP" altLang="en-US" smtClean="0"/>
              <a:t>2025/6/29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C96767-B544-4B7D-AF8C-E2739673A45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225543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FA4CDC-7D36-4B4A-B488-116582B3A61D}" type="datetimeFigureOut">
              <a:rPr kumimoji="1" lang="ja-JP" altLang="en-US" smtClean="0"/>
              <a:t>2025/6/29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C96767-B544-4B7D-AF8C-E2739673A45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104799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FA4CDC-7D36-4B4A-B488-116582B3A61D}" type="datetimeFigureOut">
              <a:rPr kumimoji="1" lang="ja-JP" altLang="en-US" smtClean="0"/>
              <a:t>2025/6/29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C96767-B544-4B7D-AF8C-E2739673A45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011193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FA4CDC-7D36-4B4A-B488-116582B3A61D}" type="datetimeFigureOut">
              <a:rPr kumimoji="1" lang="ja-JP" altLang="en-US" smtClean="0"/>
              <a:t>2025/6/29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C96767-B544-4B7D-AF8C-E2739673A45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92392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FA4CDC-7D36-4B4A-B488-116582B3A61D}" type="datetimeFigureOut">
              <a:rPr kumimoji="1" lang="ja-JP" altLang="en-US" smtClean="0"/>
              <a:t>2025/6/29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C96767-B544-4B7D-AF8C-E2739673A45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55955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FA4CDC-7D36-4B4A-B488-116582B3A61D}" type="datetimeFigureOut">
              <a:rPr kumimoji="1" lang="ja-JP" altLang="en-US" smtClean="0"/>
              <a:t>2025/6/29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C96767-B544-4B7D-AF8C-E2739673A45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179291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FA4CDC-7D36-4B4A-B488-116582B3A61D}" type="datetimeFigureOut">
              <a:rPr kumimoji="1" lang="ja-JP" altLang="en-US" smtClean="0"/>
              <a:t>2025/6/29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C96767-B544-4B7D-AF8C-E2739673A45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029842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FA4CDC-7D36-4B4A-B488-116582B3A61D}" type="datetimeFigureOut">
              <a:rPr kumimoji="1" lang="ja-JP" altLang="en-US" smtClean="0"/>
              <a:t>2025/6/29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C96767-B544-4B7D-AF8C-E2739673A45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6000325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315EF12-C039-7E16-8411-B267CEFD1D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98309" y="1574850"/>
            <a:ext cx="9395382" cy="2387600"/>
          </a:xfrm>
        </p:spPr>
        <p:txBody>
          <a:bodyPr>
            <a:normAutofit fontScale="90000"/>
          </a:bodyPr>
          <a:lstStyle/>
          <a:p>
            <a:r>
              <a:rPr lang="en-US" altLang="ja-JP"/>
              <a:t>Procedural Physically based BRDF for Real-Time Rendering of Glints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56650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21A24E7-81E4-6C5A-16D8-9ED0838065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概要</a:t>
            </a:r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DC03179-7E12-1275-5AF6-B21A0C4E93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ja-JP" altLang="en-US" sz="2400"/>
              <a:t>目標：高パフォーマンス＆低メモリ</a:t>
            </a:r>
            <a:endParaRPr lang="en-US" altLang="ja-JP" sz="2400"/>
          </a:p>
          <a:p>
            <a:r>
              <a:rPr lang="en-US" altLang="ja-JP" sz="2400"/>
              <a:t>SDF</a:t>
            </a:r>
            <a:r>
              <a:rPr lang="ja-JP" altLang="en-US" sz="2400"/>
              <a:t>を周辺化し</a:t>
            </a:r>
            <a:r>
              <a:rPr lang="en-US" altLang="ja-JP" sz="2400"/>
              <a:t>1</a:t>
            </a:r>
            <a:r>
              <a:rPr lang="ja-JP" altLang="en-US" sz="2400"/>
              <a:t>次元化したものを保存</a:t>
            </a:r>
            <a:endParaRPr lang="en-US" altLang="ja-JP" sz="2400"/>
          </a:p>
          <a:p>
            <a:pPr lvl="1"/>
            <a:r>
              <a:rPr lang="en-US" altLang="ja-JP" sz="1800"/>
              <a:t>SDF: Slope Distribution Function</a:t>
            </a:r>
            <a:endParaRPr lang="en-US" altLang="ja-JP" sz="2000"/>
          </a:p>
          <a:p>
            <a:r>
              <a:rPr lang="en-US" altLang="ja-JP" sz="2400"/>
              <a:t>2</a:t>
            </a:r>
            <a:r>
              <a:rPr lang="ja-JP" altLang="en-US" sz="2400"/>
              <a:t>つの周辺化</a:t>
            </a:r>
            <a:r>
              <a:rPr lang="en-US" altLang="ja-JP" sz="2400"/>
              <a:t>SDF</a:t>
            </a:r>
            <a:r>
              <a:rPr lang="ja-JP" altLang="en-US" sz="2400"/>
              <a:t>の積で</a:t>
            </a:r>
            <a:r>
              <a:rPr lang="en-US" altLang="ja-JP" sz="2400"/>
              <a:t>SDF</a:t>
            </a:r>
            <a:r>
              <a:rPr lang="ja-JP" altLang="en-US" sz="2400"/>
              <a:t>を表現</a:t>
            </a:r>
            <a:endParaRPr lang="en-US" altLang="ja-JP" sz="2400"/>
          </a:p>
          <a:p>
            <a:pPr lvl="1"/>
            <a:r>
              <a:rPr lang="ja-JP" altLang="en-US" sz="2000"/>
              <a:t>ヒット位置に対応する乱数で</a:t>
            </a:r>
            <a:r>
              <a:rPr lang="en-US" altLang="ja-JP" sz="2000"/>
              <a:t>SDF</a:t>
            </a:r>
            <a:r>
              <a:rPr lang="ja-JP" altLang="en-US" sz="2000"/>
              <a:t>のバリエーションを増やす</a:t>
            </a:r>
            <a:endParaRPr lang="en-US" altLang="ja-JP" sz="2000"/>
          </a:p>
          <a:p>
            <a:pPr lvl="1"/>
            <a:endParaRPr lang="en-US" altLang="ja-JP" sz="2000"/>
          </a:p>
          <a:p>
            <a:endParaRPr kumimoji="1" lang="ja-JP" altLang="en-US" sz="240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AC604D7C-F130-1475-9CCC-8F9D06DA09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1500" y="4079129"/>
            <a:ext cx="5969000" cy="2154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94999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D8E9AA7-4F70-FD22-2F38-AAE748E088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Slope Distribution Function</a:t>
            </a:r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コンテンツ プレースホルダー 2">
                <a:extLst>
                  <a:ext uri="{FF2B5EF4-FFF2-40B4-BE49-F238E27FC236}">
                    <a16:creationId xmlns:a16="http://schemas.microsoft.com/office/drawing/2014/main" id="{4924071C-50F1-31AC-0471-CFE06AC659F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351338"/>
              </a:xfrm>
            </p:spPr>
            <p:txBody>
              <a:bodyPr>
                <a:normAutofit fontScale="85000" lnSpcReduction="10000"/>
              </a:bodyPr>
              <a:lstStyle/>
              <a:p>
                <a:r>
                  <a:rPr kumimoji="1" lang="en-US" altLang="ja-JP" sz="2400"/>
                  <a:t>micro normal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kumimoji="1" lang="en-US" altLang="ja-JP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ja-JP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kumimoji="1" lang="en-US" altLang="ja-JP" sz="2400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kumimoji="1" lang="en-US" altLang="ja-JP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ja-JP" sz="24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kumimoji="1" lang="en-US" altLang="ja-JP" sz="2400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kumimoji="1" lang="en-US" altLang="ja-JP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ja-JP" sz="2400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kumimoji="1" lang="en-US" altLang="ja-JP" sz="2400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e>
                    </m:d>
                  </m:oMath>
                </a14:m>
                <a:r>
                  <a:rPr kumimoji="1" lang="en-US" altLang="ja-JP" sz="2400"/>
                  <a:t>)</a:t>
                </a:r>
                <a:r>
                  <a:rPr kumimoji="1" lang="ja-JP" altLang="en-US" sz="2400"/>
                  <a:t>の分布が</a:t>
                </a:r>
                <a:r>
                  <a:rPr kumimoji="1" lang="en-US" altLang="ja-JP" sz="2400"/>
                  <a:t>Normal Distribution Function</a:t>
                </a:r>
              </a:p>
              <a:p>
                <a:r>
                  <a:rPr lang="en-US" altLang="ja-JP" sz="2400"/>
                  <a:t>micro normal</a:t>
                </a:r>
                <a:r>
                  <a:rPr lang="ja-JP" altLang="en-US" sz="2400"/>
                  <a:t>の傾き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acc>
                  </m:oMath>
                </a14:m>
                <a:r>
                  <a:rPr lang="ja-JP" altLang="en-US" sz="2400"/>
                  <a:t>の分布が</a:t>
                </a:r>
                <a:r>
                  <a:rPr lang="en-US" altLang="ja-JP" sz="2400"/>
                  <a:t>Slope Distribution Function</a:t>
                </a:r>
              </a:p>
              <a:p>
                <a:pPr lvl="8"/>
                <a:endParaRPr lang="en-US" altLang="ja-JP" sz="140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ja-JP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sz="2400" b="0" i="1" smtClean="0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acc>
                            <m:accPr>
                              <m:chr m:val="̃"/>
                              <m:ctrlP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</m:acc>
                        </m:sub>
                      </m:sSub>
                      <m:r>
                        <a:rPr lang="en-US" altLang="ja-JP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ja-JP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acc>
                                <m:accPr>
                                  <m:chr m:val="̃"/>
                                  <m:ctrlPr>
                                    <a:rPr lang="en-US" altLang="ja-JP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ja-JP" sz="2400" b="0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</m:acc>
                            </m:sub>
                          </m:sSub>
                          <m:r>
                            <a:rPr lang="en-US" altLang="ja-JP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acc>
                                <m:accPr>
                                  <m:chr m:val="̃"/>
                                  <m:ctrlPr>
                                    <a:rPr lang="en-US" altLang="ja-JP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ja-JP" sz="2400" b="0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</m:acc>
                            </m:sub>
                          </m:sSub>
                        </m:e>
                      </m:d>
                      <m:r>
                        <a:rPr lang="en-US" altLang="ja-JP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ja-JP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ja-JP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altLang="ja-JP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ja-JP" sz="2400" b="0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altLang="ja-JP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sz="2400" b="0" i="1" smtClean="0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en-US" altLang="ja-JP" sz="2400" b="0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b>
                              </m:sSub>
                            </m:den>
                          </m:f>
                          <m:r>
                            <a:rPr lang="en-US" altLang="ja-JP" sz="2400" b="0" i="1" smtClean="0">
                              <a:latin typeface="Cambria Math" panose="02040503050406030204" pitchFamily="18" charset="0"/>
                            </a:rPr>
                            <m:t>,−</m:t>
                          </m:r>
                          <m:f>
                            <m:fPr>
                              <m:ctrlP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altLang="ja-JP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sz="24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altLang="ja-JP" sz="2400" b="0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altLang="ja-JP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sz="2400" b="0" i="1" smtClean="0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en-US" altLang="ja-JP" sz="2400" b="0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b>
                              </m:sSub>
                            </m:den>
                          </m:f>
                        </m:e>
                      </m:d>
                    </m:oMath>
                  </m:oMathPara>
                </a14:m>
                <a:endParaRPr lang="en-US" altLang="ja-JP" sz="2400"/>
              </a:p>
              <a:p>
                <a:r>
                  <a:rPr lang="en-US" altLang="ja-JP" sz="2400"/>
                  <a:t>SDF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22</m:t>
                        </m:r>
                      </m:sub>
                    </m:sSub>
                    <m:d>
                      <m:dPr>
                        <m:ctrlP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acc>
                              <m:accPr>
                                <m:chr m:val="̃"/>
                                <m:ctrlPr>
                                  <a:rPr lang="en-US" altLang="ja-JP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ja-JP" sz="2400" b="0" i="1" smtClean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</m:acc>
                          </m:sub>
                        </m:sSub>
                      </m:e>
                    </m:d>
                  </m:oMath>
                </a14:m>
                <a:r>
                  <a:rPr lang="ja-JP" altLang="en-US" sz="2400"/>
                  <a:t>と</a:t>
                </a:r>
                <a:r>
                  <a:rPr lang="en-US" altLang="ja-JP" sz="2400"/>
                  <a:t>NDF </a:t>
                </a:r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𝐷</m:t>
                    </m:r>
                    <m:d>
                      <m:dPr>
                        <m:ctrlP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e>
                    </m:d>
                  </m:oMath>
                </a14:m>
                <a:r>
                  <a:rPr lang="ja-JP" altLang="en-US" sz="2400"/>
                  <a:t>の関係</a:t>
                </a:r>
                <a:endParaRPr lang="en-US" altLang="ja-JP" sz="2400"/>
              </a:p>
              <a:p>
                <a:pPr lvl="8"/>
                <a:endParaRPr lang="en-US" altLang="ja-JP" sz="140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sz="2400" b="0" i="1" smtClean="0">
                          <a:latin typeface="Cambria Math" panose="02040503050406030204" pitchFamily="18" charset="0"/>
                        </a:rPr>
                        <m:t>𝐷</m:t>
                      </m:r>
                      <m:d>
                        <m:dPr>
                          <m:ctrlPr>
                            <a:rPr lang="en-US" altLang="ja-JP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</m:e>
                      </m:d>
                      <m:r>
                        <a:rPr lang="en-US" altLang="ja-JP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ja-JP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22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ja-JP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sz="2400" b="0" i="1" smtClean="0"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acc>
                                    <m:accPr>
                                      <m:chr m:val="̃"/>
                                      <m:ctrlPr>
                                        <a:rPr lang="en-US" altLang="ja-JP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ja-JP" sz="2400" b="0" i="1" smtClean="0"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e>
                                  </m:acc>
                                </m:sub>
                              </m:sSub>
                            </m:e>
                          </m:d>
                        </m:num>
                        <m:den>
                          <m:sSup>
                            <m:sSupPr>
                              <m:ctrlP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ja-JP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ja-JP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ja-JP" sz="2400" b="0" i="1" smtClean="0">
                                          <a:latin typeface="Cambria Math" panose="02040503050406030204" pitchFamily="18" charset="0"/>
                                        </a:rPr>
                                        <m:t>𝜔</m:t>
                                      </m:r>
                                    </m:e>
                                    <m:sub>
                                      <m:r>
                                        <a:rPr lang="en-US" altLang="ja-JP" sz="2400" b="0" i="1" smtClean="0"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sub>
                                  </m:sSub>
                                  <m:r>
                                    <a:rPr lang="en-US" altLang="ja-JP" sz="2400" b="0" i="1" smtClean="0">
                                      <a:latin typeface="Cambria Math" panose="02040503050406030204" pitchFamily="18" charset="0"/>
                                    </a:rPr>
                                    <m:t>∙</m:t>
                                  </m:r>
                                  <m:sSub>
                                    <m:sSubPr>
                                      <m:ctrlPr>
                                        <a:rPr lang="en-US" altLang="ja-JP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ja-JP" sz="2400" b="0" i="1" smtClean="0">
                                          <a:latin typeface="Cambria Math" panose="02040503050406030204" pitchFamily="18" charset="0"/>
                                        </a:rPr>
                                        <m:t>𝜔</m:t>
                                      </m:r>
                                    </m:e>
                                    <m:sub>
                                      <m:r>
                                        <a:rPr lang="en-US" altLang="ja-JP" sz="2400" b="0" i="1" smtClean="0">
                                          <a:latin typeface="Cambria Math" panose="02040503050406030204" pitchFamily="18" charset="0"/>
                                        </a:rPr>
                                        <m:t>𝑔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altLang="ja-JP" sz="240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000" b="0" i="1" smtClean="0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altLang="ja-JP" sz="2000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sub>
                    </m:sSub>
                  </m:oMath>
                </a14:m>
                <a:r>
                  <a:rPr lang="ja-JP" altLang="en-US" sz="2000"/>
                  <a:t>は</a:t>
                </a:r>
                <a:r>
                  <a:rPr lang="en-US" altLang="ja-JP" sz="2000"/>
                  <a:t>geometric normal</a:t>
                </a:r>
              </a:p>
              <a:p>
                <a:r>
                  <a:rPr lang="en-US" altLang="ja-JP" sz="2400"/>
                  <a:t>NDF</a:t>
                </a:r>
                <a:r>
                  <a:rPr lang="ja-JP" altLang="en-US" sz="2400"/>
                  <a:t>の制約 </a:t>
                </a:r>
                <a14:m>
                  <m:oMath xmlns:m="http://schemas.openxmlformats.org/officeDocument/2006/math">
                    <m:nary>
                      <m:naryPr>
                        <m:subHide m:val="on"/>
                        <m:supHide m:val="on"/>
                        <m:ctrlP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  <m:d>
                          <m:dPr>
                            <m:ctrlP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ja-JP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ja-JP" sz="2400" b="0" i="1" smtClean="0">
                                    <a:latin typeface="Cambria Math" panose="02040503050406030204" pitchFamily="18" charset="0"/>
                                  </a:rPr>
                                  <m:t>𝜔</m:t>
                                </m:r>
                              </m:e>
                              <m:sub>
                                <m:r>
                                  <a:rPr lang="en-US" altLang="ja-JP" sz="2400" b="0" i="1" smtClean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sub>
                            </m:sSub>
                          </m:e>
                        </m:d>
                        <m:d>
                          <m:dPr>
                            <m:ctrlP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ja-JP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ja-JP" sz="2400" b="0" i="1" smtClean="0">
                                    <a:latin typeface="Cambria Math" panose="02040503050406030204" pitchFamily="18" charset="0"/>
                                  </a:rPr>
                                  <m:t>𝜔</m:t>
                                </m:r>
                              </m:e>
                              <m:sub>
                                <m:r>
                                  <a:rPr lang="en-US" altLang="ja-JP" sz="2400" b="0" i="1" smtClean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sub>
                            </m:sSub>
                            <m: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  <m:t>∙</m:t>
                            </m:r>
                            <m:sSub>
                              <m:sSubPr>
                                <m:ctrlPr>
                                  <a:rPr lang="en-US" altLang="ja-JP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ja-JP" sz="2400" b="0" i="1" smtClean="0">
                                    <a:latin typeface="Cambria Math" panose="02040503050406030204" pitchFamily="18" charset="0"/>
                                  </a:rPr>
                                  <m:t>𝜔</m:t>
                                </m:r>
                              </m:e>
                              <m:sub>
                                <m:r>
                                  <a:rPr lang="en-US" altLang="ja-JP" sz="2400" b="0" i="1" smtClean="0">
                                    <a:latin typeface="Cambria Math" panose="02040503050406030204" pitchFamily="18" charset="0"/>
                                  </a:rPr>
                                  <m:t>𝑔</m:t>
                                </m:r>
                              </m:sub>
                            </m:sSub>
                          </m:e>
                        </m:d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sSub>
                          <m:sSubPr>
                            <m:ctrlP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e>
                    </m:nary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kumimoji="1" lang="en-US" altLang="ja-JP" sz="2400"/>
                  <a:t> </a:t>
                </a:r>
                <a:r>
                  <a:rPr kumimoji="1" lang="ja-JP" altLang="en-US" sz="2400"/>
                  <a:t>より</a:t>
                </a:r>
                <a:endParaRPr kumimoji="1" lang="en-US" altLang="ja-JP" sz="2400"/>
              </a:p>
              <a:p>
                <a:pPr lvl="8"/>
                <a:endParaRPr kumimoji="1" lang="en-US" altLang="ja-JP" sz="140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trlPr>
                            <a:rPr lang="en-US" altLang="ja-JP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ja-JP" sz="2400" b="0" i="1" smtClean="0">
                              <a:latin typeface="Cambria Math" panose="02040503050406030204" pitchFamily="18" charset="0"/>
                            </a:rPr>
                            <m:t>−∞</m:t>
                          </m:r>
                        </m:sub>
                        <m:sup>
                          <m:r>
                            <a:rPr lang="en-US" altLang="ja-JP" sz="2400" b="0" i="1" smtClean="0"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nary>
                            <m:naryPr>
                              <m:ctrlP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  <m:t>−∞</m:t>
                              </m:r>
                            </m:sub>
                            <m:sup>
                              <m: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  <m:t>∞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altLang="ja-JP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sz="2400" i="1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altLang="ja-JP" sz="2400" i="1">
                                      <a:latin typeface="Cambria Math" panose="02040503050406030204" pitchFamily="18" charset="0"/>
                                    </a:rPr>
                                    <m:t>22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altLang="ja-JP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ja-JP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ja-JP" sz="2400" i="1">
                                          <a:latin typeface="Cambria Math" panose="02040503050406030204" pitchFamily="18" charset="0"/>
                                        </a:rPr>
                                        <m:t>𝜔</m:t>
                                      </m:r>
                                    </m:e>
                                    <m:sub>
                                      <m:acc>
                                        <m:accPr>
                                          <m:chr m:val="̃"/>
                                          <m:ctrlPr>
                                            <a:rPr lang="en-US" altLang="ja-JP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ja-JP" sz="2400" i="1">
                                              <a:latin typeface="Cambria Math" panose="02040503050406030204" pitchFamily="18" charset="0"/>
                                            </a:rPr>
                                            <m:t>𝑚</m:t>
                                          </m:r>
                                        </m:e>
                                      </m:acc>
                                    </m:sub>
                                  </m:sSub>
                                </m:e>
                              </m:d>
                              <m: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sSub>
                                <m:sSubPr>
                                  <m:ctrlPr>
                                    <a:rPr lang="en-US" altLang="ja-JP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acc>
                                    <m:accPr>
                                      <m:chr m:val="̃"/>
                                      <m:ctrlPr>
                                        <a:rPr lang="en-US" altLang="ja-JP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ja-JP" sz="2400" b="0" i="1" smtClean="0"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e>
                                  </m:acc>
                                </m:sub>
                              </m:sSub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sSub>
                                <m:sSubPr>
                                  <m:ctrlPr>
                                    <a:rPr lang="en-US" altLang="ja-JP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sz="24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acc>
                                    <m:accPr>
                                      <m:chr m:val="̃"/>
                                      <m:ctrlPr>
                                        <a:rPr lang="en-US" altLang="ja-JP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ja-JP" sz="2400" b="0" i="1" smtClean="0"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e>
                                  </m:acc>
                                </m:sub>
                              </m:sSub>
                            </m:e>
                          </m:nary>
                        </m:e>
                      </m:nary>
                      <m:r>
                        <a:rPr lang="en-US" altLang="ja-JP" sz="2400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altLang="ja-JP" sz="2400"/>
              </a:p>
              <a:p>
                <a:endParaRPr lang="en-US" altLang="ja-JP" sz="2400"/>
              </a:p>
              <a:p>
                <a:endParaRPr kumimoji="1" lang="ja-JP" altLang="en-US" sz="2400"/>
              </a:p>
            </p:txBody>
          </p:sp>
        </mc:Choice>
        <mc:Fallback xmlns="">
          <p:sp>
            <p:nvSpPr>
              <p:cNvPr id="3" name="コンテンツ プレースホルダー 2">
                <a:extLst>
                  <a:ext uri="{FF2B5EF4-FFF2-40B4-BE49-F238E27FC236}">
                    <a16:creationId xmlns:a16="http://schemas.microsoft.com/office/drawing/2014/main" id="{4924071C-50F1-31AC-0471-CFE06AC659F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351338"/>
              </a:xfrm>
              <a:blipFill>
                <a:blip r:embed="rId2"/>
                <a:stretch>
                  <a:fillRect l="-522" t="-1961" b="-1541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311852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コンテンツ プレースホルダー 2">
                <a:extLst>
                  <a:ext uri="{FF2B5EF4-FFF2-40B4-BE49-F238E27FC236}">
                    <a16:creationId xmlns:a16="http://schemas.microsoft.com/office/drawing/2014/main" id="{FBEBF0EF-BD98-456E-F98F-C4103759371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711200"/>
                <a:ext cx="8445403" cy="5465763"/>
              </a:xfrm>
            </p:spPr>
            <p:txBody>
              <a:bodyPr>
                <a:normAutofit fontScale="55000" lnSpcReduction="20000"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𝑑</m:t>
                      </m:r>
                      <m:sSub>
                        <m:sSubPr>
                          <m:ctrlP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en-US" altLang="ja-JP" b="0" i="0" smtClean="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sSub>
                            <m:sSubPr>
                              <m:ctrlP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</m:e>
                      </m:func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𝑑</m:t>
                      </m:r>
                      <m:sSub>
                        <m:sSubPr>
                          <m:ctrlP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𝑑</m:t>
                      </m:r>
                      <m:sSub>
                        <m:sSubPr>
                          <m:ctrlP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</m:oMath>
                    <m:oMath xmlns:m="http://schemas.openxmlformats.org/officeDocument/2006/math"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kumimoji="1" lang="en-US" altLang="ja-JP" b="0" i="0" smtClean="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kumimoji="1" lang="en-US" altLang="ja-JP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ja-JP" b="0" i="1" smtClean="0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kumimoji="1" lang="en-US" altLang="ja-JP" b="0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b>
                              </m:sSub>
                            </m:e>
                          </m:func>
                          <m:func>
                            <m:funcPr>
                              <m:ctrlP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kumimoji="1" lang="en-US" altLang="ja-JP" b="0" i="0" smtClean="0"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kumimoji="1" lang="en-US" altLang="ja-JP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ja-JP" b="0" i="1" smtClean="0"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</m:e>
                                <m:sub>
                                  <m:r>
                                    <a:rPr kumimoji="1" lang="en-US" altLang="ja-JP" b="0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b>
                              </m:sSub>
                            </m:e>
                          </m:func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func>
                            <m:funcPr>
                              <m:ctrlP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kumimoji="1" lang="en-US" altLang="ja-JP" b="0" i="0" smtClean="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kumimoji="1" lang="en-US" altLang="ja-JP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ja-JP" b="0" i="1" smtClean="0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kumimoji="1" lang="en-US" altLang="ja-JP" b="0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b>
                              </m:sSub>
                            </m:e>
                          </m:func>
                          <m:func>
                            <m:funcPr>
                              <m:ctrlP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kumimoji="1" lang="en-US" altLang="ja-JP" b="0" i="0" smtClean="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kumimoji="1" lang="en-US" altLang="ja-JP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ja-JP" b="0" i="1" smtClean="0"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</m:e>
                                <m:sub>
                                  <m:r>
                                    <a:rPr kumimoji="1" lang="en-US" altLang="ja-JP" b="0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b>
                              </m:sSub>
                            </m:e>
                          </m:func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func>
                            <m:funcPr>
                              <m:ctrlP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kumimoji="1" lang="en-US" altLang="ja-JP" b="0" i="0" smtClean="0"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kumimoji="1" lang="en-US" altLang="ja-JP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ja-JP" b="0" i="1" smtClean="0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kumimoji="1" lang="en-US" altLang="ja-JP" b="0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b>
                              </m:sSub>
                            </m:e>
                          </m:func>
                        </m:e>
                      </m:d>
                    </m:oMath>
                    <m:oMath xmlns:m="http://schemas.openxmlformats.org/officeDocument/2006/math"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acc>
                            <m:accPr>
                              <m:chr m:val="̃"/>
                              <m:ctrlP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</m:acc>
                        </m:sub>
                      </m:sSub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func>
                                <m:funcPr>
                                  <m:ctrlPr>
                                    <a:rPr kumimoji="1" lang="en-US" altLang="ja-JP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kumimoji="1" lang="en-US" altLang="ja-JP"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</m:fName>
                                <m:e>
                                  <m:sSub>
                                    <m:sSubPr>
                                      <m:ctrlPr>
                                        <a:rPr kumimoji="1" lang="en-US" altLang="ja-JP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1" lang="en-US" altLang="ja-JP" i="1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kumimoji="1" lang="en-US" altLang="ja-JP" i="1"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sub>
                                  </m:sSub>
                                </m:e>
                              </m:func>
                              <m:func>
                                <m:funcPr>
                                  <m:ctrlPr>
                                    <a:rPr kumimoji="1" lang="en-US" altLang="ja-JP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kumimoji="1" lang="en-US" altLang="ja-JP">
                                      <a:latin typeface="Cambria Math" panose="02040503050406030204" pitchFamily="18" charset="0"/>
                                    </a:rPr>
                                    <m:t>cos</m:t>
                                  </m:r>
                                </m:fName>
                                <m:e>
                                  <m:sSub>
                                    <m:sSubPr>
                                      <m:ctrlPr>
                                        <a:rPr kumimoji="1" lang="en-US" altLang="ja-JP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1" lang="en-US" altLang="ja-JP" i="1">
                                          <a:latin typeface="Cambria Math" panose="02040503050406030204" pitchFamily="18" charset="0"/>
                                        </a:rPr>
                                        <m:t>𝜙</m:t>
                                      </m:r>
                                    </m:e>
                                    <m:sub>
                                      <m:r>
                                        <a:rPr kumimoji="1" lang="en-US" altLang="ja-JP" i="1"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sub>
                                  </m:sSub>
                                </m:e>
                              </m:func>
                            </m:num>
                            <m:den>
                              <m:func>
                                <m:funcPr>
                                  <m:ctrlPr>
                                    <a:rPr kumimoji="1" lang="en-US" altLang="ja-JP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kumimoji="1" lang="en-US" altLang="ja-JP" b="0" i="0" smtClean="0">
                                      <a:latin typeface="Cambria Math" panose="02040503050406030204" pitchFamily="18" charset="0"/>
                                    </a:rPr>
                                    <m:t>cos</m:t>
                                  </m:r>
                                </m:fName>
                                <m:e>
                                  <m:sSub>
                                    <m:sSubPr>
                                      <m:ctrlPr>
                                        <a:rPr kumimoji="1" lang="en-US" altLang="ja-JP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1" lang="en-US" altLang="ja-JP" b="0" i="1" smtClean="0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kumimoji="1" lang="en-US" altLang="ja-JP" b="0" i="1" smtClean="0"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sub>
                                  </m:sSub>
                                </m:e>
                              </m:func>
                            </m:den>
                          </m:f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,−</m:t>
                          </m:r>
                          <m:f>
                            <m:fPr>
                              <m:ctrlP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func>
                                <m:funcPr>
                                  <m:ctrlPr>
                                    <a:rPr kumimoji="1" lang="en-US" altLang="ja-JP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kumimoji="1" lang="en-US" altLang="ja-JP"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</m:fName>
                                <m:e>
                                  <m:sSub>
                                    <m:sSubPr>
                                      <m:ctrlPr>
                                        <a:rPr kumimoji="1" lang="en-US" altLang="ja-JP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1" lang="en-US" altLang="ja-JP" i="1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kumimoji="1" lang="en-US" altLang="ja-JP" i="1"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sub>
                                  </m:sSub>
                                </m:e>
                              </m:func>
                              <m:func>
                                <m:funcPr>
                                  <m:ctrlPr>
                                    <a:rPr kumimoji="1" lang="en-US" altLang="ja-JP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kumimoji="1" lang="en-US" altLang="ja-JP"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</m:fName>
                                <m:e>
                                  <m:sSub>
                                    <m:sSubPr>
                                      <m:ctrlPr>
                                        <a:rPr kumimoji="1" lang="en-US" altLang="ja-JP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1" lang="en-US" altLang="ja-JP" i="1">
                                          <a:latin typeface="Cambria Math" panose="02040503050406030204" pitchFamily="18" charset="0"/>
                                        </a:rPr>
                                        <m:t>𝜙</m:t>
                                      </m:r>
                                    </m:e>
                                    <m:sub>
                                      <m:r>
                                        <a:rPr kumimoji="1" lang="en-US" altLang="ja-JP" i="1"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sub>
                                  </m:sSub>
                                </m:e>
                              </m:func>
                            </m:num>
                            <m:den>
                              <m:func>
                                <m:funcPr>
                                  <m:ctrlPr>
                                    <a:rPr kumimoji="1" lang="en-US" altLang="ja-JP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kumimoji="1" lang="en-US" altLang="ja-JP" b="0" i="0" smtClean="0">
                                      <a:latin typeface="Cambria Math" panose="02040503050406030204" pitchFamily="18" charset="0"/>
                                    </a:rPr>
                                    <m:t>cos</m:t>
                                  </m:r>
                                </m:fName>
                                <m:e>
                                  <m:sSub>
                                    <m:sSubPr>
                                      <m:ctrlPr>
                                        <a:rPr kumimoji="1" lang="en-US" altLang="ja-JP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1" lang="en-US" altLang="ja-JP" b="0" i="1" smtClean="0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kumimoji="1" lang="en-US" altLang="ja-JP" b="0" i="1" smtClean="0"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sub>
                                  </m:sSub>
                                </m:e>
                              </m:func>
                            </m:den>
                          </m:f>
                        </m:e>
                      </m:d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ja-JP" i="1">
                              <a:latin typeface="Cambria Math" panose="02040503050406030204" pitchFamily="18" charset="0"/>
                            </a:rPr>
                            <m:t>−</m:t>
                          </m:r>
                          <m:func>
                            <m:funcPr>
                              <m:ctrlPr>
                                <a:rPr kumimoji="1"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kumimoji="1" lang="en-US" altLang="ja-JP">
                                  <a:latin typeface="Cambria Math" panose="02040503050406030204" pitchFamily="18" charset="0"/>
                                </a:rPr>
                                <m:t>tan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kumimoji="1" lang="en-US" altLang="ja-JP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ja-JP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kumimoji="1" lang="en-US" altLang="ja-JP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b>
                              </m:sSub>
                            </m:e>
                          </m:func>
                          <m:func>
                            <m:funcPr>
                              <m:ctrlPr>
                                <a:rPr kumimoji="1"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kumimoji="1" lang="en-US" altLang="ja-JP"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kumimoji="1" lang="en-US" altLang="ja-JP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ja-JP" i="1"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</m:e>
                                <m:sub>
                                  <m:r>
                                    <a:rPr kumimoji="1" lang="en-US" altLang="ja-JP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b>
                              </m:sSub>
                            </m:e>
                          </m:func>
                          <m:r>
                            <a:rPr kumimoji="1" lang="en-US" altLang="ja-JP" i="1">
                              <a:latin typeface="Cambria Math" panose="02040503050406030204" pitchFamily="18" charset="0"/>
                            </a:rPr>
                            <m:t>,−</m:t>
                          </m:r>
                          <m:func>
                            <m:funcPr>
                              <m:ctrlPr>
                                <a:rPr kumimoji="1"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kumimoji="1" lang="en-US" altLang="ja-JP">
                                  <a:latin typeface="Cambria Math" panose="02040503050406030204" pitchFamily="18" charset="0"/>
                                </a:rPr>
                                <m:t>tan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kumimoji="1" lang="en-US" altLang="ja-JP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ja-JP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kumimoji="1" lang="en-US" altLang="ja-JP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b>
                              </m:sSub>
                            </m:e>
                          </m:func>
                          <m:func>
                            <m:funcPr>
                              <m:ctrlPr>
                                <a:rPr kumimoji="1"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kumimoji="1" lang="en-US" altLang="ja-JP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kumimoji="1" lang="en-US" altLang="ja-JP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ja-JP" i="1"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</m:e>
                                <m:sub>
                                  <m:r>
                                    <a:rPr kumimoji="1" lang="en-US" altLang="ja-JP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b>
                              </m:sSub>
                            </m:e>
                          </m:func>
                        </m:e>
                      </m:d>
                    </m:oMath>
                    <m:oMath xmlns:m="http://schemas.openxmlformats.org/officeDocument/2006/math"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  <m:oMath xmlns:m="http://schemas.openxmlformats.org/officeDocument/2006/math">
                      <m:f>
                        <m:fPr>
                          <m:ctrlP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acc>
                                <m:accPr>
                                  <m:chr m:val="̃"/>
                                  <m:ctrlPr>
                                    <a:rPr kumimoji="1" lang="en-US" altLang="ja-JP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kumimoji="1" lang="en-US" altLang="ja-JP" b="0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</m:acc>
                            </m:sub>
                          </m:sSub>
                        </m:num>
                        <m:den>
                          <m:r>
                            <a:rPr kumimoji="1" lang="en-US" altLang="ja-JP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</m:den>
                      </m:f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kumimoji="1" lang="en-US" altLang="ja-JP" b="0" i="0" smtClean="0"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kumimoji="1" lang="en-US" altLang="ja-JP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ja-JP" b="0" i="1" smtClean="0"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</m:e>
                                <m:sub>
                                  <m:r>
                                    <a:rPr kumimoji="1" lang="en-US" altLang="ja-JP" b="0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b>
                              </m:sSub>
                            </m:e>
                          </m:func>
                        </m:num>
                        <m:den>
                          <m:func>
                            <m:funcPr>
                              <m:ctrlP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p>
                                <m:sSupPr>
                                  <m:ctrlPr>
                                    <a:rPr kumimoji="1" lang="en-US" altLang="ja-JP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kumimoji="1" lang="en-US" altLang="ja-JP" b="0" i="0" smtClean="0">
                                      <a:latin typeface="Cambria Math" panose="02040503050406030204" pitchFamily="18" charset="0"/>
                                    </a:rPr>
                                    <m:t>cos</m:t>
                                  </m:r>
                                </m:e>
                                <m:sup>
                                  <m:r>
                                    <a:rPr kumimoji="1" lang="en-US" altLang="ja-JP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fName>
                            <m:e>
                              <m:sSub>
                                <m:sSubPr>
                                  <m:ctrlPr>
                                    <a:rPr kumimoji="1" lang="en-US" altLang="ja-JP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ja-JP" b="0" i="1" smtClean="0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kumimoji="1" lang="en-US" altLang="ja-JP" b="0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b>
                              </m:sSub>
                            </m:e>
                          </m:func>
                        </m:den>
                      </m:f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,  </m:t>
                      </m:r>
                      <m:f>
                        <m:fPr>
                          <m:ctrlP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en-US" altLang="ja-JP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acc>
                                <m:accPr>
                                  <m:chr m:val="̃"/>
                                  <m:ctrlPr>
                                    <a:rPr kumimoji="1" lang="en-US" altLang="ja-JP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kumimoji="1" lang="en-US" altLang="ja-JP" b="0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</m:acc>
                            </m:sub>
                          </m:sSub>
                        </m:num>
                        <m:den>
                          <m:r>
                            <a:rPr kumimoji="1" lang="en-US" altLang="ja-JP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e>
                            <m:sub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</m:den>
                      </m:f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en-US" altLang="ja-JP" b="0" i="0" smtClean="0">
                              <a:latin typeface="Cambria Math" panose="02040503050406030204" pitchFamily="18" charset="0"/>
                            </a:rPr>
                            <m:t>tan</m:t>
                          </m:r>
                        </m:fName>
                        <m:e>
                          <m:sSub>
                            <m:sSubPr>
                              <m:ctrlP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</m:e>
                      </m:func>
                      <m:func>
                        <m:funcPr>
                          <m:ctrlP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en-US" altLang="ja-JP" b="0" i="0" smtClean="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sSub>
                            <m:sSubPr>
                              <m:ctrlP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e>
                            <m:sub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</m:e>
                      </m:func>
                    </m:oMath>
                    <m:oMath xmlns:m="http://schemas.openxmlformats.org/officeDocument/2006/math"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  <m:oMath xmlns:m="http://schemas.openxmlformats.org/officeDocument/2006/math">
                      <m:f>
                        <m:fPr>
                          <m:ctrlPr>
                            <a:rPr kumimoji="1" lang="en-US" altLang="ja-JP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en-US" altLang="ja-JP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kumimoji="1"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acc>
                                <m:accPr>
                                  <m:chr m:val="̃"/>
                                  <m:ctrlPr>
                                    <a:rPr kumimoji="1" lang="en-US" altLang="ja-JP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kumimoji="1" lang="en-US" altLang="ja-JP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</m:acc>
                            </m:sub>
                          </m:sSub>
                        </m:num>
                        <m:den>
                          <m:r>
                            <a:rPr kumimoji="1" lang="en-US" altLang="ja-JP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kumimoji="1"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ja-JP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kumimoji="1" lang="en-US" altLang="ja-JP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</m:den>
                      </m:f>
                      <m:r>
                        <a:rPr kumimoji="1" lang="en-US" altLang="ja-JP" i="1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kumimoji="1" lang="en-US" altLang="ja-JP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kumimoji="1"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kumimoji="1" lang="en-US" altLang="ja-JP" b="0" i="0" smtClean="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kumimoji="1" lang="en-US" altLang="ja-JP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ja-JP" i="1"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</m:e>
                                <m:sub>
                                  <m:r>
                                    <a:rPr kumimoji="1" lang="en-US" altLang="ja-JP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b>
                              </m:sSub>
                            </m:e>
                          </m:func>
                        </m:num>
                        <m:den>
                          <m:func>
                            <m:funcPr>
                              <m:ctrlPr>
                                <a:rPr kumimoji="1"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p>
                                <m:sSupPr>
                                  <m:ctrlPr>
                                    <a:rPr kumimoji="1" lang="en-US" altLang="ja-JP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kumimoji="1" lang="en-US" altLang="ja-JP">
                                      <a:latin typeface="Cambria Math" panose="02040503050406030204" pitchFamily="18" charset="0"/>
                                    </a:rPr>
                                    <m:t>cos</m:t>
                                  </m:r>
                                </m:e>
                                <m:sup>
                                  <m:r>
                                    <a:rPr kumimoji="1" lang="en-US" altLang="ja-JP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fName>
                            <m:e>
                              <m:sSub>
                                <m:sSubPr>
                                  <m:ctrlPr>
                                    <a:rPr kumimoji="1" lang="en-US" altLang="ja-JP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ja-JP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kumimoji="1" lang="en-US" altLang="ja-JP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b>
                              </m:sSub>
                            </m:e>
                          </m:func>
                        </m:den>
                      </m:f>
                      <m:r>
                        <a:rPr kumimoji="1" lang="en-US" altLang="ja-JP" i="1">
                          <a:latin typeface="Cambria Math" panose="02040503050406030204" pitchFamily="18" charset="0"/>
                        </a:rPr>
                        <m:t>,  </m:t>
                      </m:r>
                      <m:f>
                        <m:fPr>
                          <m:ctrlPr>
                            <a:rPr kumimoji="1" lang="en-US" altLang="ja-JP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en-US" altLang="ja-JP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kumimoji="1"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acc>
                                <m:accPr>
                                  <m:chr m:val="̃"/>
                                  <m:ctrlPr>
                                    <a:rPr kumimoji="1" lang="en-US" altLang="ja-JP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kumimoji="1" lang="en-US" altLang="ja-JP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</m:acc>
                            </m:sub>
                          </m:sSub>
                        </m:num>
                        <m:den>
                          <m:r>
                            <a:rPr kumimoji="1" lang="en-US" altLang="ja-JP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kumimoji="1"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ja-JP" i="1"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e>
                            <m:sub>
                              <m:r>
                                <a:rPr kumimoji="1" lang="en-US" altLang="ja-JP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</m:den>
                      </m:f>
                      <m:r>
                        <a:rPr kumimoji="1" lang="en-US" altLang="ja-JP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−</m:t>
                      </m:r>
                      <m:func>
                        <m:funcPr>
                          <m:ctrlPr>
                            <a:rPr kumimoji="1" lang="en-US" altLang="ja-JP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en-US" altLang="ja-JP">
                              <a:latin typeface="Cambria Math" panose="02040503050406030204" pitchFamily="18" charset="0"/>
                            </a:rPr>
                            <m:t>tan</m:t>
                          </m:r>
                        </m:fName>
                        <m:e>
                          <m:sSub>
                            <m:sSubPr>
                              <m:ctrlPr>
                                <a:rPr kumimoji="1"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ja-JP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kumimoji="1" lang="en-US" altLang="ja-JP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</m:e>
                      </m:func>
                      <m:func>
                        <m:funcPr>
                          <m:ctrlPr>
                            <a:rPr kumimoji="1" lang="en-US" altLang="ja-JP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en-US" altLang="ja-JP" b="0" i="0" smtClean="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sSub>
                            <m:sSubPr>
                              <m:ctrlPr>
                                <a:rPr kumimoji="1"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ja-JP" i="1"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e>
                            <m:sub>
                              <m:r>
                                <a:rPr kumimoji="1" lang="en-US" altLang="ja-JP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</m:e>
                      </m:func>
                    </m:oMath>
                    <m:oMath xmlns:m="http://schemas.openxmlformats.org/officeDocument/2006/math"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  <m:oMath xmlns:m="http://schemas.openxmlformats.org/officeDocument/2006/math"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𝐽</m:t>
                      </m:r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kumimoji="1" lang="en-US" altLang="ja-JP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kumimoji="1"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kumimoji="1" lang="en-US" altLang="ja-JP"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kumimoji="1" lang="en-US" altLang="ja-JP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ja-JP" i="1"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</m:e>
                                <m:sub>
                                  <m:r>
                                    <a:rPr kumimoji="1" lang="en-US" altLang="ja-JP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b>
                              </m:sSub>
                            </m:e>
                          </m:func>
                        </m:num>
                        <m:den>
                          <m:func>
                            <m:funcPr>
                              <m:ctrlPr>
                                <a:rPr kumimoji="1"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p>
                                <m:sSupPr>
                                  <m:ctrlPr>
                                    <a:rPr kumimoji="1" lang="en-US" altLang="ja-JP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kumimoji="1" lang="en-US" altLang="ja-JP">
                                      <a:latin typeface="Cambria Math" panose="02040503050406030204" pitchFamily="18" charset="0"/>
                                    </a:rPr>
                                    <m:t>cos</m:t>
                                  </m:r>
                                </m:e>
                                <m:sup>
                                  <m:r>
                                    <a:rPr kumimoji="1" lang="en-US" altLang="ja-JP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fName>
                            <m:e>
                              <m:sSub>
                                <m:sSubPr>
                                  <m:ctrlPr>
                                    <a:rPr kumimoji="1" lang="en-US" altLang="ja-JP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ja-JP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kumimoji="1" lang="en-US" altLang="ja-JP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b>
                              </m:sSub>
                            </m:e>
                          </m:func>
                        </m:den>
                      </m:f>
                      <m:func>
                        <m:funcPr>
                          <m:ctrlPr>
                            <a:rPr kumimoji="1" lang="en-US" altLang="ja-JP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en-US" altLang="ja-JP">
                              <a:latin typeface="Cambria Math" panose="02040503050406030204" pitchFamily="18" charset="0"/>
                            </a:rPr>
                            <m:t>tan</m:t>
                          </m:r>
                        </m:fName>
                        <m:e>
                          <m:sSub>
                            <m:sSubPr>
                              <m:ctrlPr>
                                <a:rPr kumimoji="1"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ja-JP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kumimoji="1" lang="en-US" altLang="ja-JP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</m:e>
                      </m:func>
                      <m:func>
                        <m:funcPr>
                          <m:ctrlPr>
                            <a:rPr kumimoji="1" lang="en-US" altLang="ja-JP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en-US" altLang="ja-JP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sSub>
                            <m:sSubPr>
                              <m:ctrlPr>
                                <a:rPr kumimoji="1"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ja-JP" i="1"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e>
                            <m:sub>
                              <m:r>
                                <a:rPr kumimoji="1" lang="en-US" altLang="ja-JP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</m:e>
                      </m:func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kumimoji="1" lang="en-US" altLang="ja-JP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kumimoji="1"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kumimoji="1" lang="en-US" altLang="ja-JP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kumimoji="1" lang="en-US" altLang="ja-JP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ja-JP" i="1"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</m:e>
                                <m:sub>
                                  <m:r>
                                    <a:rPr kumimoji="1" lang="en-US" altLang="ja-JP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b>
                              </m:sSub>
                            </m:e>
                          </m:func>
                        </m:num>
                        <m:den>
                          <m:func>
                            <m:funcPr>
                              <m:ctrlPr>
                                <a:rPr kumimoji="1"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p>
                                <m:sSupPr>
                                  <m:ctrlPr>
                                    <a:rPr kumimoji="1" lang="en-US" altLang="ja-JP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kumimoji="1" lang="en-US" altLang="ja-JP">
                                      <a:latin typeface="Cambria Math" panose="02040503050406030204" pitchFamily="18" charset="0"/>
                                    </a:rPr>
                                    <m:t>cos</m:t>
                                  </m:r>
                                </m:e>
                                <m:sup>
                                  <m:r>
                                    <a:rPr kumimoji="1" lang="en-US" altLang="ja-JP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fName>
                            <m:e>
                              <m:sSub>
                                <m:sSubPr>
                                  <m:ctrlPr>
                                    <a:rPr kumimoji="1" lang="en-US" altLang="ja-JP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ja-JP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kumimoji="1" lang="en-US" altLang="ja-JP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b>
                              </m:sSub>
                            </m:e>
                          </m:func>
                        </m:den>
                      </m:f>
                      <m:func>
                        <m:funcPr>
                          <m:ctrlPr>
                            <a:rPr kumimoji="1" lang="en-US" altLang="ja-JP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en-US" altLang="ja-JP">
                              <a:latin typeface="Cambria Math" panose="02040503050406030204" pitchFamily="18" charset="0"/>
                            </a:rPr>
                            <m:t>tan</m:t>
                          </m:r>
                        </m:fName>
                        <m:e>
                          <m:sSub>
                            <m:sSubPr>
                              <m:ctrlPr>
                                <a:rPr kumimoji="1"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ja-JP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kumimoji="1" lang="en-US" altLang="ja-JP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</m:e>
                      </m:func>
                      <m:func>
                        <m:funcPr>
                          <m:ctrlPr>
                            <a:rPr kumimoji="1" lang="en-US" altLang="ja-JP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en-US" altLang="ja-JP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sSub>
                            <m:sSubPr>
                              <m:ctrlPr>
                                <a:rPr kumimoji="1"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ja-JP" i="1"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e>
                            <m:sub>
                              <m:r>
                                <a:rPr kumimoji="1" lang="en-US" altLang="ja-JP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</m:e>
                      </m:func>
                    </m:oMath>
                    <m:oMath xmlns:m="http://schemas.openxmlformats.org/officeDocument/2006/math"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  <m:oMath xmlns:m="http://schemas.openxmlformats.org/officeDocument/2006/math">
                      <m:r>
                        <a:rPr kumimoji="1" lang="en-US" altLang="ja-JP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kumimoji="1" lang="en-US" altLang="ja-JP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kumimoji="1"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p>
                                <m:sSupPr>
                                  <m:ctrlPr>
                                    <a:rPr kumimoji="1" lang="en-US" altLang="ja-JP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kumimoji="1" lang="en-US" altLang="ja-JP">
                                      <a:latin typeface="Cambria Math" panose="02040503050406030204" pitchFamily="18" charset="0"/>
                                    </a:rPr>
                                    <m:t>cos</m:t>
                                  </m:r>
                                </m:e>
                                <m:sup>
                                  <m:r>
                                    <a:rPr kumimoji="1" lang="en-US" altLang="ja-JP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fName>
                            <m:e>
                              <m:sSub>
                                <m:sSubPr>
                                  <m:ctrlPr>
                                    <a:rPr kumimoji="1" lang="en-US" altLang="ja-JP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ja-JP" i="1"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</m:e>
                                <m:sub>
                                  <m:r>
                                    <a:rPr kumimoji="1" lang="en-US" altLang="ja-JP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b>
                              </m:sSub>
                            </m:e>
                          </m:func>
                        </m:num>
                        <m:den>
                          <m:func>
                            <m:funcPr>
                              <m:ctrlPr>
                                <a:rPr kumimoji="1"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p>
                                <m:sSupPr>
                                  <m:ctrlPr>
                                    <a:rPr kumimoji="1" lang="en-US" altLang="ja-JP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kumimoji="1" lang="en-US" altLang="ja-JP">
                                      <a:latin typeface="Cambria Math" panose="02040503050406030204" pitchFamily="18" charset="0"/>
                                    </a:rPr>
                                    <m:t>cos</m:t>
                                  </m:r>
                                </m:e>
                                <m:sup>
                                  <m:r>
                                    <a:rPr kumimoji="1" lang="en-US" altLang="ja-JP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fName>
                            <m:e>
                              <m:sSub>
                                <m:sSubPr>
                                  <m:ctrlPr>
                                    <a:rPr kumimoji="1" lang="en-US" altLang="ja-JP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ja-JP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kumimoji="1" lang="en-US" altLang="ja-JP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b>
                              </m:sSub>
                            </m:e>
                          </m:func>
                        </m:den>
                      </m:f>
                      <m:func>
                        <m:funcPr>
                          <m:ctrlPr>
                            <a:rPr kumimoji="1" lang="en-US" altLang="ja-JP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en-US" altLang="ja-JP">
                              <a:latin typeface="Cambria Math" panose="02040503050406030204" pitchFamily="18" charset="0"/>
                            </a:rPr>
                            <m:t>tan</m:t>
                          </m:r>
                        </m:fName>
                        <m:e>
                          <m:sSub>
                            <m:sSubPr>
                              <m:ctrlPr>
                                <a:rPr kumimoji="1"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ja-JP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kumimoji="1" lang="en-US" altLang="ja-JP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</m:e>
                      </m:func>
                      <m:r>
                        <a:rPr kumimoji="1" lang="en-US" altLang="ja-JP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kumimoji="1" lang="en-US" altLang="ja-JP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kumimoji="1"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p>
                                <m:sSupPr>
                                  <m:ctrlPr>
                                    <a:rPr kumimoji="1" lang="en-US" altLang="ja-JP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kumimoji="1" lang="en-US" altLang="ja-JP"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</m:e>
                                <m:sup>
                                  <m:r>
                                    <a:rPr kumimoji="1" lang="en-US" altLang="ja-JP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fName>
                            <m:e>
                              <m:sSub>
                                <m:sSubPr>
                                  <m:ctrlPr>
                                    <a:rPr kumimoji="1" lang="en-US" altLang="ja-JP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ja-JP" i="1"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</m:e>
                                <m:sub>
                                  <m:r>
                                    <a:rPr kumimoji="1" lang="en-US" altLang="ja-JP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b>
                              </m:sSub>
                            </m:e>
                          </m:func>
                        </m:num>
                        <m:den>
                          <m:func>
                            <m:funcPr>
                              <m:ctrlPr>
                                <a:rPr kumimoji="1"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p>
                                <m:sSupPr>
                                  <m:ctrlPr>
                                    <a:rPr kumimoji="1" lang="en-US" altLang="ja-JP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kumimoji="1" lang="en-US" altLang="ja-JP">
                                      <a:latin typeface="Cambria Math" panose="02040503050406030204" pitchFamily="18" charset="0"/>
                                    </a:rPr>
                                    <m:t>cos</m:t>
                                  </m:r>
                                </m:e>
                                <m:sup>
                                  <m:r>
                                    <a:rPr kumimoji="1" lang="en-US" altLang="ja-JP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fName>
                            <m:e>
                              <m:sSub>
                                <m:sSubPr>
                                  <m:ctrlPr>
                                    <a:rPr kumimoji="1" lang="en-US" altLang="ja-JP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ja-JP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kumimoji="1" lang="en-US" altLang="ja-JP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b>
                              </m:sSub>
                            </m:e>
                          </m:func>
                        </m:den>
                      </m:f>
                      <m:func>
                        <m:funcPr>
                          <m:ctrlPr>
                            <a:rPr kumimoji="1" lang="en-US" altLang="ja-JP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en-US" altLang="ja-JP">
                              <a:latin typeface="Cambria Math" panose="02040503050406030204" pitchFamily="18" charset="0"/>
                            </a:rPr>
                            <m:t>tan</m:t>
                          </m:r>
                        </m:fName>
                        <m:e>
                          <m:sSub>
                            <m:sSubPr>
                              <m:ctrlPr>
                                <a:rPr kumimoji="1"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ja-JP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kumimoji="1" lang="en-US" altLang="ja-JP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</m:e>
                      </m:func>
                    </m:oMath>
                    <m:oMath xmlns:m="http://schemas.openxmlformats.org/officeDocument/2006/math">
                      <m:r>
                        <a:rPr kumimoji="1" lang="en-US" altLang="ja-JP" i="1">
                          <a:latin typeface="Cambria Math" panose="02040503050406030204" pitchFamily="18" charset="0"/>
                        </a:rPr>
                        <m:t> </m:t>
                      </m:r>
                    </m:oMath>
                    <m:oMath xmlns:m="http://schemas.openxmlformats.org/officeDocument/2006/math">
                      <m:r>
                        <a:rPr kumimoji="1" lang="en-US" altLang="ja-JP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kumimoji="1" lang="en-US" altLang="ja-JP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kumimoji="1"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kumimoji="1" lang="en-US" altLang="ja-JP">
                                  <a:latin typeface="Cambria Math" panose="02040503050406030204" pitchFamily="18" charset="0"/>
                                </a:rPr>
                                <m:t>tan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kumimoji="1" lang="en-US" altLang="ja-JP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ja-JP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kumimoji="1" lang="en-US" altLang="ja-JP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b>
                              </m:sSub>
                            </m:e>
                          </m:func>
                        </m:num>
                        <m:den>
                          <m:func>
                            <m:funcPr>
                              <m:ctrlPr>
                                <a:rPr kumimoji="1"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p>
                                <m:sSupPr>
                                  <m:ctrlPr>
                                    <a:rPr kumimoji="1" lang="en-US" altLang="ja-JP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kumimoji="1" lang="en-US" altLang="ja-JP">
                                      <a:latin typeface="Cambria Math" panose="02040503050406030204" pitchFamily="18" charset="0"/>
                                    </a:rPr>
                                    <m:t>cos</m:t>
                                  </m:r>
                                </m:e>
                                <m:sup>
                                  <m:r>
                                    <a:rPr kumimoji="1" lang="en-US" altLang="ja-JP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fName>
                            <m:e>
                              <m:sSub>
                                <m:sSubPr>
                                  <m:ctrlPr>
                                    <a:rPr kumimoji="1" lang="en-US" altLang="ja-JP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ja-JP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kumimoji="1" lang="en-US" altLang="ja-JP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b>
                              </m:sSub>
                            </m:e>
                          </m:func>
                        </m:den>
                      </m:f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kumimoji="1" lang="en-US" altLang="ja-JP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kumimoji="1"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kumimoji="1" lang="en-US" altLang="ja-JP" b="0" i="0" smtClean="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kumimoji="1" lang="en-US" altLang="ja-JP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ja-JP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kumimoji="1" lang="en-US" altLang="ja-JP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b>
                              </m:sSub>
                            </m:e>
                          </m:func>
                        </m:num>
                        <m:den>
                          <m:func>
                            <m:funcPr>
                              <m:ctrlPr>
                                <a:rPr kumimoji="1"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p>
                                <m:sSupPr>
                                  <m:ctrlPr>
                                    <a:rPr kumimoji="1" lang="en-US" altLang="ja-JP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kumimoji="1" lang="en-US" altLang="ja-JP">
                                      <a:latin typeface="Cambria Math" panose="02040503050406030204" pitchFamily="18" charset="0"/>
                                    </a:rPr>
                                    <m:t>cos</m:t>
                                  </m:r>
                                </m:e>
                                <m:sup>
                                  <m:r>
                                    <a:rPr kumimoji="1" lang="en-US" altLang="ja-JP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</m:fName>
                            <m:e>
                              <m:sSub>
                                <m:sSubPr>
                                  <m:ctrlPr>
                                    <a:rPr kumimoji="1" lang="en-US" altLang="ja-JP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ja-JP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kumimoji="1" lang="en-US" altLang="ja-JP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b>
                              </m:sSub>
                            </m:e>
                          </m:func>
                        </m:den>
                      </m:f>
                    </m:oMath>
                    <m:oMath xmlns:m="http://schemas.openxmlformats.org/officeDocument/2006/math"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  <m:oMath xmlns:m="http://schemas.openxmlformats.org/officeDocument/2006/math">
                      <m:nary>
                        <m:naryPr>
                          <m:subHide m:val="on"/>
                          <m:supHide m:val="on"/>
                          <m:ctrlP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nary>
                            <m:naryPr>
                              <m:subHide m:val="on"/>
                              <m:supHide m:val="on"/>
                              <m:ctrlP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  <m:d>
                                <m:dPr>
                                  <m:ctrlPr>
                                    <a:rPr kumimoji="1" lang="en-US" altLang="ja-JP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kumimoji="1" lang="en-US" altLang="ja-JP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1" lang="en-US" altLang="ja-JP" b="0" i="1" smtClean="0">
                                          <a:latin typeface="Cambria Math" panose="02040503050406030204" pitchFamily="18" charset="0"/>
                                        </a:rPr>
                                        <m:t>𝜔</m:t>
                                      </m:r>
                                    </m:e>
                                    <m:sub>
                                      <m:r>
                                        <a:rPr kumimoji="1" lang="en-US" altLang="ja-JP" b="0" i="1" smtClean="0"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sub>
                                  </m:sSub>
                                </m:e>
                              </m:d>
                              <m:func>
                                <m:funcPr>
                                  <m:ctrlPr>
                                    <a:rPr kumimoji="1" lang="en-US" altLang="ja-JP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kumimoji="1" lang="en-US" altLang="ja-JP" b="0" i="0" smtClean="0">
                                      <a:latin typeface="Cambria Math" panose="02040503050406030204" pitchFamily="18" charset="0"/>
                                    </a:rPr>
                                    <m:t>cos</m:t>
                                  </m:r>
                                </m:fName>
                                <m:e>
                                  <m:sSub>
                                    <m:sSubPr>
                                      <m:ctrlPr>
                                        <a:rPr kumimoji="1" lang="en-US" altLang="ja-JP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1" lang="en-US" altLang="ja-JP" b="0" i="1" smtClean="0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kumimoji="1" lang="en-US" altLang="ja-JP" b="0" i="1" smtClean="0"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sub>
                                  </m:sSub>
                                </m:e>
                              </m:func>
                              <m:func>
                                <m:funcPr>
                                  <m:ctrlPr>
                                    <a:rPr kumimoji="1" lang="en-US" altLang="ja-JP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kumimoji="1" lang="en-US" altLang="ja-JP" b="0" i="0" smtClean="0"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</m:fName>
                                <m:e>
                                  <m:sSub>
                                    <m:sSubPr>
                                      <m:ctrlPr>
                                        <a:rPr kumimoji="1" lang="en-US" altLang="ja-JP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1" lang="en-US" altLang="ja-JP" b="0" i="1" smtClean="0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kumimoji="1" lang="en-US" altLang="ja-JP" b="0" i="1" smtClean="0"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sub>
                                  </m:sSub>
                                </m:e>
                              </m:func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sSub>
                                <m:sSubPr>
                                  <m:ctrlPr>
                                    <a:rPr kumimoji="1" lang="en-US" altLang="ja-JP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ja-JP" b="0" i="1" smtClean="0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kumimoji="1" lang="en-US" altLang="ja-JP" b="0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b>
                              </m:sSub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sSub>
                                <m:sSubPr>
                                  <m:ctrlPr>
                                    <a:rPr kumimoji="1" lang="en-US" altLang="ja-JP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ja-JP" b="0" i="1" smtClean="0"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</m:e>
                                <m:sub>
                                  <m:r>
                                    <a:rPr kumimoji="1" lang="en-US" altLang="ja-JP" b="0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b>
                              </m:sSub>
                            </m:e>
                          </m:nary>
                        </m:e>
                      </m:nary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subHide m:val="on"/>
                          <m:supHide m:val="on"/>
                          <m:ctrlPr>
                            <a:rPr kumimoji="1" lang="en-US" altLang="ja-JP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nary>
                            <m:naryPr>
                              <m:subHide m:val="on"/>
                              <m:supHide m:val="on"/>
                              <m:ctrlPr>
                                <a:rPr kumimoji="1"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f>
                                <m:fPr>
                                  <m:ctrlPr>
                                    <a:rPr kumimoji="1" lang="en-US" altLang="ja-JP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kumimoji="1" lang="en-US" altLang="ja-JP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1" lang="en-US" altLang="ja-JP" b="0" i="1" smtClean="0">
                                          <a:latin typeface="Cambria Math" panose="02040503050406030204" pitchFamily="18" charset="0"/>
                                        </a:rPr>
                                        <m:t>𝑃</m:t>
                                      </m:r>
                                    </m:e>
                                    <m:sub>
                                      <m:r>
                                        <a:rPr kumimoji="1" lang="en-US" altLang="ja-JP" b="0" i="1" smtClean="0">
                                          <a:latin typeface="Cambria Math" panose="02040503050406030204" pitchFamily="18" charset="0"/>
                                        </a:rPr>
                                        <m:t>22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kumimoji="1" lang="en-US" altLang="ja-JP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kumimoji="1" lang="en-US" altLang="ja-JP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kumimoji="1" lang="en-US" altLang="ja-JP" i="1">
                                              <a:latin typeface="Cambria Math" panose="02040503050406030204" pitchFamily="18" charset="0"/>
                                            </a:rPr>
                                            <m:t>𝜔</m:t>
                                          </m:r>
                                        </m:e>
                                        <m:sub>
                                          <m:acc>
                                            <m:accPr>
                                              <m:chr m:val="̃"/>
                                              <m:ctrlPr>
                                                <a:rPr kumimoji="1" lang="en-US" altLang="ja-JP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kumimoji="1" lang="en-US" altLang="ja-JP" i="1">
                                                  <a:latin typeface="Cambria Math" panose="02040503050406030204" pitchFamily="18" charset="0"/>
                                                </a:rPr>
                                                <m:t>𝑚</m:t>
                                              </m:r>
                                            </m:e>
                                          </m:acc>
                                        </m:sub>
                                      </m:sSub>
                                    </m:e>
                                  </m:d>
                                </m:num>
                                <m:den>
                                  <m:func>
                                    <m:funcPr>
                                      <m:ctrlPr>
                                        <a:rPr kumimoji="1" lang="en-US" altLang="ja-JP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sSup>
                                        <m:sSupPr>
                                          <m:ctrlPr>
                                            <a:rPr kumimoji="1" lang="en-US" altLang="ja-JP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kumimoji="1" lang="en-US" altLang="ja-JP" b="0" i="0" smtClean="0">
                                              <a:latin typeface="Cambria Math" panose="02040503050406030204" pitchFamily="18" charset="0"/>
                                            </a:rPr>
                                            <m:t>cos</m:t>
                                          </m:r>
                                        </m:e>
                                        <m:sup>
                                          <m:r>
                                            <a:rPr kumimoji="1" lang="en-US" altLang="ja-JP" b="0" i="1" smtClean="0">
                                              <a:latin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</m:sup>
                                      </m:sSup>
                                    </m:fName>
                                    <m:e>
                                      <m:sSub>
                                        <m:sSubPr>
                                          <m:ctrlPr>
                                            <a:rPr kumimoji="1" lang="en-US" altLang="ja-JP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kumimoji="1" lang="en-US" altLang="ja-JP" b="0" i="1" smtClean="0">
                                              <a:latin typeface="Cambria Math" panose="02040503050406030204" pitchFamily="18" charset="0"/>
                                            </a:rPr>
                                            <m:t>𝜃</m:t>
                                          </m:r>
                                        </m:e>
                                        <m:sub>
                                          <m:r>
                                            <a:rPr kumimoji="1" lang="en-US" altLang="ja-JP" b="0" i="1" smtClean="0">
                                              <a:latin typeface="Cambria Math" panose="02040503050406030204" pitchFamily="18" charset="0"/>
                                            </a:rPr>
                                            <m:t>𝑚</m:t>
                                          </m:r>
                                        </m:sub>
                                      </m:sSub>
                                    </m:e>
                                  </m:func>
                                </m:den>
                              </m:f>
                              <m:func>
                                <m:funcPr>
                                  <m:ctrlPr>
                                    <a:rPr kumimoji="1" lang="en-US" altLang="ja-JP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kumimoji="1" lang="en-US" altLang="ja-JP"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</m:fName>
                                <m:e>
                                  <m:sSub>
                                    <m:sSubPr>
                                      <m:ctrlPr>
                                        <a:rPr kumimoji="1" lang="en-US" altLang="ja-JP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1" lang="en-US" altLang="ja-JP" i="1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kumimoji="1" lang="en-US" altLang="ja-JP" i="1"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sub>
                                  </m:sSub>
                                </m:e>
                              </m:func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  <m:f>
                                <m:fPr>
                                  <m:ctrlPr>
                                    <a:rPr kumimoji="1" lang="en-US" altLang="ja-JP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func>
                                    <m:funcPr>
                                      <m:ctrlPr>
                                        <a:rPr kumimoji="1" lang="en-US" altLang="ja-JP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sSup>
                                        <m:sSupPr>
                                          <m:ctrlPr>
                                            <a:rPr kumimoji="1" lang="en-US" altLang="ja-JP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kumimoji="1" lang="en-US" altLang="ja-JP" b="0" i="0" smtClean="0">
                                              <a:latin typeface="Cambria Math" panose="02040503050406030204" pitchFamily="18" charset="0"/>
                                            </a:rPr>
                                            <m:t>cos</m:t>
                                          </m:r>
                                        </m:e>
                                        <m:sup>
                                          <m:r>
                                            <a:rPr kumimoji="1" lang="en-US" altLang="ja-JP" b="0" i="1" smtClean="0">
                                              <a:latin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</m:sup>
                                      </m:sSup>
                                    </m:fName>
                                    <m:e>
                                      <m:sSub>
                                        <m:sSubPr>
                                          <m:ctrlPr>
                                            <a:rPr kumimoji="1" lang="en-US" altLang="ja-JP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kumimoji="1" lang="en-US" altLang="ja-JP" b="0" i="1" smtClean="0">
                                              <a:latin typeface="Cambria Math" panose="02040503050406030204" pitchFamily="18" charset="0"/>
                                            </a:rPr>
                                            <m:t>𝜃</m:t>
                                          </m:r>
                                        </m:e>
                                        <m:sub>
                                          <m:r>
                                            <a:rPr kumimoji="1" lang="en-US" altLang="ja-JP" b="0" i="1" smtClean="0">
                                              <a:latin typeface="Cambria Math" panose="02040503050406030204" pitchFamily="18" charset="0"/>
                                            </a:rPr>
                                            <m:t>𝑚</m:t>
                                          </m:r>
                                        </m:sub>
                                      </m:sSub>
                                    </m:e>
                                  </m:func>
                                </m:num>
                                <m:den>
                                  <m:func>
                                    <m:funcPr>
                                      <m:ctrlPr>
                                        <a:rPr kumimoji="1" lang="en-US" altLang="ja-JP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kumimoji="1" lang="en-US" altLang="ja-JP" b="0" i="0" smtClean="0">
                                          <a:latin typeface="Cambria Math" panose="02040503050406030204" pitchFamily="18" charset="0"/>
                                        </a:rPr>
                                        <m:t>sin</m:t>
                                      </m:r>
                                    </m:fName>
                                    <m:e>
                                      <m:sSub>
                                        <m:sSubPr>
                                          <m:ctrlPr>
                                            <a:rPr kumimoji="1" lang="en-US" altLang="ja-JP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kumimoji="1" lang="en-US" altLang="ja-JP" b="0" i="1" smtClean="0">
                                              <a:latin typeface="Cambria Math" panose="02040503050406030204" pitchFamily="18" charset="0"/>
                                            </a:rPr>
                                            <m:t>𝜃</m:t>
                                          </m:r>
                                        </m:e>
                                        <m:sub>
                                          <m:r>
                                            <a:rPr kumimoji="1" lang="en-US" altLang="ja-JP" b="0" i="1" smtClean="0">
                                              <a:latin typeface="Cambria Math" panose="02040503050406030204" pitchFamily="18" charset="0"/>
                                            </a:rPr>
                                            <m:t>𝑚</m:t>
                                          </m:r>
                                        </m:sub>
                                      </m:sSub>
                                    </m:e>
                                  </m:func>
                                </m:den>
                              </m:f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sSub>
                                <m:sSubPr>
                                  <m:ctrlPr>
                                    <a:rPr kumimoji="1" lang="en-US" altLang="ja-JP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ja-JP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acc>
                                    <m:accPr>
                                      <m:chr m:val="̃"/>
                                      <m:ctrlPr>
                                        <a:rPr kumimoji="1" lang="en-US" altLang="ja-JP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kumimoji="1" lang="en-US" altLang="ja-JP" b="0" i="1" smtClean="0"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e>
                                  </m:acc>
                                </m:sub>
                              </m:sSub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sSub>
                                <m:sSubPr>
                                  <m:ctrlPr>
                                    <a:rPr kumimoji="1" lang="en-US" altLang="ja-JP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ja-JP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acc>
                                    <m:accPr>
                                      <m:chr m:val="̃"/>
                                      <m:ctrlPr>
                                        <a:rPr kumimoji="1" lang="en-US" altLang="ja-JP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kumimoji="1" lang="en-US" altLang="ja-JP" b="0" i="1" smtClean="0"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e>
                                  </m:acc>
                                </m:sub>
                              </m:sSub>
                            </m:e>
                          </m:nary>
                        </m:e>
                      </m:nary>
                      <m:r>
                        <a:rPr kumimoji="1" lang="en-US" altLang="ja-JP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subHide m:val="on"/>
                          <m:supHide m:val="on"/>
                          <m:ctrlPr>
                            <a:rPr kumimoji="1" lang="en-US" altLang="ja-JP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nary>
                            <m:naryPr>
                              <m:subHide m:val="on"/>
                              <m:supHide m:val="on"/>
                              <m:ctrlPr>
                                <a:rPr kumimoji="1"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sSub>
                                <m:sSubPr>
                                  <m:ctrlPr>
                                    <a:rPr kumimoji="1" lang="en-US" altLang="ja-JP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ja-JP" i="1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kumimoji="1" lang="en-US" altLang="ja-JP" i="1">
                                      <a:latin typeface="Cambria Math" panose="02040503050406030204" pitchFamily="18" charset="0"/>
                                    </a:rPr>
                                    <m:t>22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kumimoji="1" lang="en-US" altLang="ja-JP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kumimoji="1" lang="en-US" altLang="ja-JP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1" lang="en-US" altLang="ja-JP" i="1">
                                          <a:latin typeface="Cambria Math" panose="02040503050406030204" pitchFamily="18" charset="0"/>
                                        </a:rPr>
                                        <m:t>𝜔</m:t>
                                      </m:r>
                                    </m:e>
                                    <m:sub>
                                      <m:acc>
                                        <m:accPr>
                                          <m:chr m:val="̃"/>
                                          <m:ctrlPr>
                                            <a:rPr kumimoji="1" lang="en-US" altLang="ja-JP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kumimoji="1" lang="en-US" altLang="ja-JP" i="1">
                                              <a:latin typeface="Cambria Math" panose="02040503050406030204" pitchFamily="18" charset="0"/>
                                            </a:rPr>
                                            <m:t>𝑚</m:t>
                                          </m:r>
                                        </m:e>
                                      </m:acc>
                                    </m:sub>
                                  </m:sSub>
                                </m:e>
                              </m:d>
                              <m:r>
                                <a:rPr kumimoji="1" lang="en-US" altLang="ja-JP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sSub>
                                <m:sSubPr>
                                  <m:ctrlPr>
                                    <a:rPr kumimoji="1" lang="en-US" altLang="ja-JP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ja-JP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acc>
                                    <m:accPr>
                                      <m:chr m:val="̃"/>
                                      <m:ctrlPr>
                                        <a:rPr kumimoji="1" lang="en-US" altLang="ja-JP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kumimoji="1" lang="en-US" altLang="ja-JP" i="1"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e>
                                  </m:acc>
                                </m:sub>
                              </m:sSub>
                              <m:r>
                                <a:rPr kumimoji="1" lang="en-US" altLang="ja-JP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sSub>
                                <m:sSubPr>
                                  <m:ctrlPr>
                                    <a:rPr kumimoji="1" lang="en-US" altLang="ja-JP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ja-JP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acc>
                                    <m:accPr>
                                      <m:chr m:val="̃"/>
                                      <m:ctrlPr>
                                        <a:rPr kumimoji="1" lang="en-US" altLang="ja-JP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kumimoji="1" lang="en-US" altLang="ja-JP" i="1"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e>
                                  </m:acc>
                                </m:sub>
                              </m:sSub>
                            </m:e>
                          </m:nary>
                        </m:e>
                      </m:nary>
                    </m:oMath>
                  </m:oMathPara>
                </a14:m>
                <a:endParaRPr kumimoji="1" lang="en-US" altLang="ja-JP" i="1">
                  <a:latin typeface="Cambria Math" panose="02040503050406030204" pitchFamily="18" charset="0"/>
                </a:endParaRPr>
              </a:p>
              <a:p>
                <a:endParaRPr kumimoji="1" lang="ja-JP" altLang="en-US"/>
              </a:p>
            </p:txBody>
          </p:sp>
        </mc:Choice>
        <mc:Fallback xmlns="">
          <p:sp>
            <p:nvSpPr>
              <p:cNvPr id="3" name="コンテンツ プレースホルダー 2">
                <a:extLst>
                  <a:ext uri="{FF2B5EF4-FFF2-40B4-BE49-F238E27FC236}">
                    <a16:creationId xmlns:a16="http://schemas.microsoft.com/office/drawing/2014/main" id="{FBEBF0EF-BD98-456E-F98F-C4103759371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711200"/>
                <a:ext cx="8445403" cy="5465763"/>
              </a:xfrm>
              <a:blipFill>
                <a:blip r:embed="rId2"/>
                <a:stretch>
                  <a:fillRect l="-8375" r="-1588" b="-2064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37859650-4C2C-8667-A6A5-95645C7921E2}"/>
              </a:ext>
            </a:extLst>
          </p:cNvPr>
          <p:cNvCxnSpPr/>
          <p:nvPr/>
        </p:nvCxnSpPr>
        <p:spPr>
          <a:xfrm>
            <a:off x="7231438" y="4209032"/>
            <a:ext cx="315502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線コネクタ 7">
            <a:extLst>
              <a:ext uri="{FF2B5EF4-FFF2-40B4-BE49-F238E27FC236}">
                <a16:creationId xmlns:a16="http://schemas.microsoft.com/office/drawing/2014/main" id="{74E0758A-6971-1033-A73A-1D6C26B6E2AA}"/>
              </a:ext>
            </a:extLst>
          </p:cNvPr>
          <p:cNvCxnSpPr/>
          <p:nvPr/>
        </p:nvCxnSpPr>
        <p:spPr>
          <a:xfrm>
            <a:off x="7231437" y="3309032"/>
            <a:ext cx="315502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円弧 8">
            <a:extLst>
              <a:ext uri="{FF2B5EF4-FFF2-40B4-BE49-F238E27FC236}">
                <a16:creationId xmlns:a16="http://schemas.microsoft.com/office/drawing/2014/main" id="{525AAD9E-C3AA-81AF-7AAD-E2D41055BD77}"/>
              </a:ext>
            </a:extLst>
          </p:cNvPr>
          <p:cNvSpPr/>
          <p:nvPr/>
        </p:nvSpPr>
        <p:spPr>
          <a:xfrm>
            <a:off x="7949594" y="3309032"/>
            <a:ext cx="1800000" cy="1800000"/>
          </a:xfrm>
          <a:prstGeom prst="arc">
            <a:avLst>
              <a:gd name="adj1" fmla="val 10768514"/>
              <a:gd name="adj2" fmla="val 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1" name="直線コネクタ 10">
            <a:extLst>
              <a:ext uri="{FF2B5EF4-FFF2-40B4-BE49-F238E27FC236}">
                <a16:creationId xmlns:a16="http://schemas.microsoft.com/office/drawing/2014/main" id="{731F51C1-CDAC-41E0-FDEE-C2633D5DBBAB}"/>
              </a:ext>
            </a:extLst>
          </p:cNvPr>
          <p:cNvCxnSpPr/>
          <p:nvPr/>
        </p:nvCxnSpPr>
        <p:spPr>
          <a:xfrm>
            <a:off x="8849594" y="3309032"/>
            <a:ext cx="0" cy="900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矢印コネクタ 14">
            <a:extLst>
              <a:ext uri="{FF2B5EF4-FFF2-40B4-BE49-F238E27FC236}">
                <a16:creationId xmlns:a16="http://schemas.microsoft.com/office/drawing/2014/main" id="{6AF1CE2B-D009-C527-1333-AF0F5A252A74}"/>
              </a:ext>
            </a:extLst>
          </p:cNvPr>
          <p:cNvCxnSpPr/>
          <p:nvPr/>
        </p:nvCxnSpPr>
        <p:spPr>
          <a:xfrm flipV="1">
            <a:off x="8849594" y="3611033"/>
            <a:ext cx="675406" cy="5979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矢印コネクタ 15">
            <a:extLst>
              <a:ext uri="{FF2B5EF4-FFF2-40B4-BE49-F238E27FC236}">
                <a16:creationId xmlns:a16="http://schemas.microsoft.com/office/drawing/2014/main" id="{E0CD8DCE-300D-CB8D-2973-553C080E82B0}"/>
              </a:ext>
            </a:extLst>
          </p:cNvPr>
          <p:cNvCxnSpPr>
            <a:cxnSpLocks/>
          </p:cNvCxnSpPr>
          <p:nvPr/>
        </p:nvCxnSpPr>
        <p:spPr>
          <a:xfrm flipV="1">
            <a:off x="8849593" y="3312583"/>
            <a:ext cx="1017692" cy="89644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3A314ADE-4B7F-E753-FA8B-6048721B8901}"/>
              </a:ext>
            </a:extLst>
          </p:cNvPr>
          <p:cNvSpPr txBox="1"/>
          <p:nvPr/>
        </p:nvSpPr>
        <p:spPr>
          <a:xfrm>
            <a:off x="8595356" y="2906035"/>
            <a:ext cx="5084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/>
              <a:t>z=1</a:t>
            </a:r>
            <a:endParaRPr kumimoji="1" lang="ja-JP" altLang="en-US"/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62D344CC-34F2-FAD4-8215-B0C122317C07}"/>
              </a:ext>
            </a:extLst>
          </p:cNvPr>
          <p:cNvSpPr txBox="1"/>
          <p:nvPr/>
        </p:nvSpPr>
        <p:spPr>
          <a:xfrm>
            <a:off x="10380493" y="4024366"/>
            <a:ext cx="4459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/>
              <a:t>x,y</a:t>
            </a:r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テキスト ボックス 22">
                <a:extLst>
                  <a:ext uri="{FF2B5EF4-FFF2-40B4-BE49-F238E27FC236}">
                    <a16:creationId xmlns:a16="http://schemas.microsoft.com/office/drawing/2014/main" id="{53ADC1B6-3C93-0093-9E8D-B9F1DA28522E}"/>
                  </a:ext>
                </a:extLst>
              </p:cNvPr>
              <p:cNvSpPr txBox="1"/>
              <p:nvPr/>
            </p:nvSpPr>
            <p:spPr>
              <a:xfrm>
                <a:off x="9283603" y="1736647"/>
                <a:ext cx="1987467" cy="144603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ja-JP" altLang="en-US" b="0">
                    <a:latin typeface="Cambria Math" panose="02040503050406030204" pitchFamily="18" charset="0"/>
                  </a:rPr>
                  <a:t>幾何的には</a:t>
                </a:r>
                <a:endParaRPr kumimoji="1" lang="en-US" altLang="ja-JP" b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𝜔</m:t>
                      </m:r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𝑑𝐴</m:t>
                      </m:r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∗</m:t>
                      </m:r>
                      <m:f>
                        <m:fPr>
                          <m:ctrlP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kumimoji="1" lang="en-US" altLang="ja-JP" b="0" i="0" smtClean="0"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func>
                        </m:num>
                        <m:den>
                          <m:sSup>
                            <m:sSupPr>
                              <m:ctrlP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p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  <m:oMath xmlns:m="http://schemas.openxmlformats.org/officeDocument/2006/math"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  <m:oMath xmlns:m="http://schemas.openxmlformats.org/officeDocument/2006/math">
                      <m:r>
                        <a:rPr kumimoji="1" lang="en-US" altLang="ja-JP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kumimoji="1" lang="en-US" altLang="ja-JP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𝜔</m:t>
                      </m:r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𝑑𝐴</m:t>
                      </m:r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∗</m:t>
                      </m:r>
                      <m:func>
                        <m:funcPr>
                          <m:ctrlP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kumimoji="1" lang="en-US" altLang="ja-JP" b="0" i="0" smtClean="0"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e>
                            <m:sup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fName>
                        <m:e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func>
                    </m:oMath>
                  </m:oMathPara>
                </a14:m>
                <a:endParaRPr kumimoji="1" lang="ja-JP" altLang="en-US" i="1"/>
              </a:p>
            </p:txBody>
          </p:sp>
        </mc:Choice>
        <mc:Fallback xmlns="">
          <p:sp>
            <p:nvSpPr>
              <p:cNvPr id="23" name="テキスト ボックス 22">
                <a:extLst>
                  <a:ext uri="{FF2B5EF4-FFF2-40B4-BE49-F238E27FC236}">
                    <a16:creationId xmlns:a16="http://schemas.microsoft.com/office/drawing/2014/main" id="{53ADC1B6-3C93-0093-9E8D-B9F1DA2852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83603" y="1736647"/>
                <a:ext cx="1987467" cy="1446037"/>
              </a:xfrm>
              <a:prstGeom prst="rect">
                <a:avLst/>
              </a:prstGeom>
              <a:blipFill>
                <a:blip r:embed="rId3"/>
                <a:stretch>
                  <a:fillRect l="-2761" t="-211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900575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0FC20A2-74DC-9FF9-62D7-D7A656ECAF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Slope Distribution Function</a:t>
            </a:r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コンテンツ プレースホルダー 2">
                <a:extLst>
                  <a:ext uri="{FF2B5EF4-FFF2-40B4-BE49-F238E27FC236}">
                    <a16:creationId xmlns:a16="http://schemas.microsoft.com/office/drawing/2014/main" id="{AB693D63-E1BE-7F91-B8AE-3B8CFDE8F6B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8026400" cy="4351338"/>
              </a:xfrm>
            </p:spPr>
            <p:txBody>
              <a:bodyPr>
                <a:normAutofit/>
              </a:bodyPr>
              <a:lstStyle/>
              <a:p>
                <a:r>
                  <a:rPr kumimoji="1" lang="en-US" altLang="ja-JP" sz="2400"/>
                  <a:t>SDF</a:t>
                </a:r>
                <a:r>
                  <a:rPr kumimoji="1" lang="ja-JP" altLang="en-US" sz="2400"/>
                  <a:t>を</a:t>
                </a:r>
                <a:r>
                  <a:rPr kumimoji="1" lang="en-US" altLang="ja-JP" sz="2400"/>
                  <a:t>2</a:t>
                </a:r>
                <a:r>
                  <a:rPr kumimoji="1" lang="ja-JP" altLang="en-US" sz="2400"/>
                  <a:t>つの周辺化</a:t>
                </a:r>
                <a:r>
                  <a:rPr kumimoji="1" lang="en-US" altLang="ja-JP" sz="2400"/>
                  <a:t>SDF</a:t>
                </a:r>
                <a:r>
                  <a:rPr lang="ja-JP" altLang="en-US" sz="2400"/>
                  <a:t>の積で表現</a:t>
                </a:r>
                <a:endParaRPr lang="en-US" altLang="ja-JP" sz="2400"/>
              </a:p>
              <a:p>
                <a:pPr lvl="1"/>
                <a:r>
                  <a:rPr kumimoji="1" lang="ja-JP" altLang="en-US" sz="2000"/>
                  <a:t>周辺化</a:t>
                </a:r>
                <a:r>
                  <a:rPr kumimoji="1" lang="en-US" altLang="ja-JP" sz="2000"/>
                  <a:t>SDF</a:t>
                </a:r>
                <a:r>
                  <a:rPr kumimoji="1" lang="ja-JP" altLang="en-US" sz="2000"/>
                  <a:t>が正規化</a:t>
                </a:r>
                <a:r>
                  <a:rPr lang="ja-JP" altLang="en-US" sz="2000"/>
                  <a:t>済み</a:t>
                </a:r>
                <a:r>
                  <a:rPr kumimoji="1" lang="ja-JP" altLang="en-US" sz="2000"/>
                  <a:t>ならば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0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ja-JP" sz="2000" b="0" i="1" smtClean="0">
                            <a:latin typeface="Cambria Math" panose="02040503050406030204" pitchFamily="18" charset="0"/>
                          </a:rPr>
                          <m:t>22</m:t>
                        </m:r>
                      </m:sub>
                    </m:sSub>
                  </m:oMath>
                </a14:m>
                <a:r>
                  <a:rPr kumimoji="1" lang="ja-JP" altLang="en-US" sz="2000"/>
                  <a:t>も正規化された状態</a:t>
                </a:r>
                <a:endParaRPr lang="en-US" altLang="ja-JP" sz="2000"/>
              </a:p>
              <a:p>
                <a:pPr lvl="8"/>
                <a:endParaRPr lang="en-US" altLang="ja-JP" sz="1600" b="0" i="1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ja-JP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sz="24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ja-JP" sz="2400" b="0" i="1" smtClean="0">
                              <a:latin typeface="Cambria Math" panose="02040503050406030204" pitchFamily="18" charset="0"/>
                            </a:rPr>
                            <m:t>22</m:t>
                          </m:r>
                        </m:sub>
                      </m:sSub>
                      <m:d>
                        <m:dPr>
                          <m:ctrlPr>
                            <a:rPr lang="en-US" altLang="ja-JP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acc>
                                <m:accPr>
                                  <m:chr m:val="̃"/>
                                  <m:ctrlPr>
                                    <a:rPr lang="en-US" altLang="ja-JP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ja-JP" sz="2400" b="0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</m:acc>
                            </m:sub>
                          </m:sSub>
                        </m:e>
                      </m:d>
                      <m:r>
                        <a:rPr lang="en-US" altLang="ja-JP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ja-JP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sz="24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ja-JP" sz="2400" b="0" i="1" smtClean="0">
                              <a:latin typeface="Cambria Math" panose="02040503050406030204" pitchFamily="18" charset="0"/>
                            </a:rPr>
                            <m:t>2−</m:t>
                          </m:r>
                        </m:sub>
                      </m:sSub>
                      <m:d>
                        <m:dPr>
                          <m:ctrlPr>
                            <a:rPr lang="en-US" altLang="ja-JP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acc>
                                <m:accPr>
                                  <m:chr m:val="̃"/>
                                  <m:ctrlPr>
                                    <a:rPr lang="en-US" altLang="ja-JP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ja-JP" sz="2400" b="0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</m:acc>
                            </m:sub>
                          </m:sSub>
                        </m:e>
                      </m:d>
                      <m:sSub>
                        <m:sSubPr>
                          <m:ctrlPr>
                            <a:rPr lang="en-US" altLang="ja-JP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sz="24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ja-JP" sz="2400" b="0" i="1" smtClean="0">
                              <a:latin typeface="Cambria Math" panose="02040503050406030204" pitchFamily="18" charset="0"/>
                            </a:rPr>
                            <m:t>−2</m:t>
                          </m:r>
                        </m:sub>
                      </m:sSub>
                      <m:d>
                        <m:dPr>
                          <m:ctrlPr>
                            <a:rPr lang="en-US" altLang="ja-JP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acc>
                                <m:accPr>
                                  <m:chr m:val="̃"/>
                                  <m:ctrlPr>
                                    <a:rPr lang="en-US" altLang="ja-JP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ja-JP" sz="2400" b="0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</m:acc>
                            </m:sub>
                          </m:sSub>
                        </m:e>
                      </m:d>
                    </m:oMath>
                  </m:oMathPara>
                </a14:m>
                <a:endParaRPr lang="en-US" altLang="ja-JP" sz="2400"/>
              </a:p>
              <a:p>
                <a:pPr lvl="8"/>
                <a:endParaRPr kumimoji="1" lang="en-US" altLang="ja-JP" sz="1400"/>
              </a:p>
              <a:p>
                <a:r>
                  <a:rPr lang="ja-JP" altLang="en-US" sz="2400"/>
                  <a:t>記録する</a:t>
                </a:r>
                <a:r>
                  <a:rPr lang="en-US" altLang="ja-JP" sz="2400"/>
                  <a:t>SDF</a:t>
                </a:r>
                <a:r>
                  <a:rPr lang="ja-JP" altLang="en-US" sz="2400"/>
                  <a:t>は正領域のみ</a:t>
                </a:r>
                <a:endParaRPr kumimoji="1" lang="en-US" altLang="ja-JP" sz="2400"/>
              </a:p>
              <a:p>
                <a:pPr lvl="1"/>
                <a:r>
                  <a:rPr kumimoji="1" lang="en-US" altLang="ja-JP" sz="2000"/>
                  <a:t>micro normal</a:t>
                </a:r>
                <a:r>
                  <a:rPr kumimoji="1" lang="ja-JP" altLang="en-US" sz="2000"/>
                  <a:t>の平均の方向を</a:t>
                </a:r>
                <a:r>
                  <a:rPr kumimoji="1" lang="en-US" altLang="ja-JP" sz="2000"/>
                  <a:t>geometric normal</a:t>
                </a:r>
                <a:r>
                  <a:rPr kumimoji="1" lang="ja-JP" altLang="en-US" sz="2000"/>
                  <a:t>と一致させるため</a:t>
                </a:r>
                <a:endParaRPr kumimoji="1" lang="en-US" altLang="ja-JP" sz="2000"/>
              </a:p>
              <a:p>
                <a:pPr lvl="1"/>
                <a:endParaRPr kumimoji="1" lang="en-US" altLang="ja-JP" sz="2000"/>
              </a:p>
              <a:p>
                <a:endParaRPr kumimoji="1" lang="en-US" altLang="ja-JP" sz="2400"/>
              </a:p>
              <a:p>
                <a:endParaRPr lang="en-US" altLang="ja-JP" sz="2400"/>
              </a:p>
              <a:p>
                <a:endParaRPr kumimoji="1" lang="en-US" altLang="ja-JP" sz="2400"/>
              </a:p>
              <a:p>
                <a:endParaRPr lang="en-US" altLang="ja-JP" sz="2400"/>
              </a:p>
              <a:p>
                <a:endParaRPr kumimoji="1" lang="ja-JP" altLang="en-US" sz="2400"/>
              </a:p>
            </p:txBody>
          </p:sp>
        </mc:Choice>
        <mc:Fallback xmlns="">
          <p:sp>
            <p:nvSpPr>
              <p:cNvPr id="3" name="コンテンツ プレースホルダー 2">
                <a:extLst>
                  <a:ext uri="{FF2B5EF4-FFF2-40B4-BE49-F238E27FC236}">
                    <a16:creationId xmlns:a16="http://schemas.microsoft.com/office/drawing/2014/main" id="{AB693D63-E1BE-7F91-B8AE-3B8CFDE8F6B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8026400" cy="4351338"/>
              </a:xfrm>
              <a:blipFill>
                <a:blip r:embed="rId2"/>
                <a:stretch>
                  <a:fillRect l="-1064" t="-1961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図 4">
            <a:extLst>
              <a:ext uri="{FF2B5EF4-FFF2-40B4-BE49-F238E27FC236}">
                <a16:creationId xmlns:a16="http://schemas.microsoft.com/office/drawing/2014/main" id="{F1EEAB12-0F4C-01D3-7A3F-16B43D69FA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57733" y="3993137"/>
            <a:ext cx="2873325" cy="2499738"/>
          </a:xfrm>
          <a:prstGeom prst="rect">
            <a:avLst/>
          </a:prstGeom>
        </p:spPr>
      </p:pic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02444DC9-DEE7-7AFE-AB65-A842415A8848}"/>
              </a:ext>
            </a:extLst>
          </p:cNvPr>
          <p:cNvSpPr/>
          <p:nvPr/>
        </p:nvSpPr>
        <p:spPr>
          <a:xfrm>
            <a:off x="10581005" y="4613274"/>
            <a:ext cx="949325" cy="94932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625494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564993B-B573-5726-C51E-115EEBCE7F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LOD</a:t>
            </a:r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コンテンツ プレースホルダー 2">
                <a:extLst>
                  <a:ext uri="{FF2B5EF4-FFF2-40B4-BE49-F238E27FC236}">
                    <a16:creationId xmlns:a16="http://schemas.microsoft.com/office/drawing/2014/main" id="{8A204AFC-8809-FA81-E689-E3F638C0912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0000" lnSpcReduction="20000"/>
              </a:bodyPr>
              <a:lstStyle/>
              <a:p>
                <a:r>
                  <a:rPr kumimoji="1" lang="ja-JP" altLang="en-US"/>
                  <a:t>パッチサイズに応じた</a:t>
                </a:r>
                <a:r>
                  <a:rPr kumimoji="1" lang="en-US" altLang="ja-JP"/>
                  <a:t>LOD</a:t>
                </a:r>
                <a:r>
                  <a:rPr kumimoji="1" lang="ja-JP" altLang="en-US"/>
                  <a:t>の</a:t>
                </a:r>
                <a:r>
                  <a:rPr kumimoji="1" lang="en-US" altLang="ja-JP"/>
                  <a:t>SDF</a:t>
                </a:r>
                <a:r>
                  <a:rPr kumimoji="1" lang="ja-JP" altLang="en-US"/>
                  <a:t>を使用</a:t>
                </a:r>
                <a:endParaRPr kumimoji="1" lang="en-US" altLang="ja-JP"/>
              </a:p>
              <a:p>
                <a:pPr lvl="1"/>
                <a:r>
                  <a:rPr kumimoji="1" lang="en-US" altLang="ja-JP"/>
                  <a:t>LOD</a:t>
                </a:r>
                <a:r>
                  <a:rPr kumimoji="1" lang="ja-JP" altLang="en-US"/>
                  <a:t>が低いほどローブが少ない</a:t>
                </a:r>
                <a:endParaRPr kumimoji="1" lang="en-US" altLang="ja-JP"/>
              </a:p>
              <a:p>
                <a:pPr lvl="1"/>
                <a:r>
                  <a:rPr kumimoji="1" lang="ja-JP" altLang="en-US"/>
                  <a:t>最大</a:t>
                </a:r>
                <a:r>
                  <a:rPr kumimoji="1" lang="en-US" altLang="ja-JP"/>
                  <a:t>LOD</a:t>
                </a:r>
                <a:r>
                  <a:rPr kumimoji="1" lang="ja-JP" altLang="en-US"/>
                  <a:t>で</a:t>
                </a:r>
                <a:r>
                  <a:rPr kumimoji="1" lang="en-US" altLang="ja-JP"/>
                  <a:t>Beckmann</a:t>
                </a:r>
                <a:r>
                  <a:rPr kumimoji="1" lang="ja-JP" altLang="en-US"/>
                  <a:t>分布と一致</a:t>
                </a:r>
                <a:endParaRPr kumimoji="1" lang="en-US" altLang="ja-JP"/>
              </a:p>
              <a:p>
                <a:pPr lvl="2"/>
                <a:r>
                  <a:rPr lang="en-US" altLang="ja-JP"/>
                  <a:t>Beckmann</a:t>
                </a:r>
                <a:r>
                  <a:rPr lang="ja-JP" altLang="en-US"/>
                  <a:t>は</a:t>
                </a:r>
                <a:r>
                  <a:rPr lang="en-US" altLang="ja-JP"/>
                  <a:t>separable</a:t>
                </a:r>
              </a:p>
              <a:p>
                <a:pPr lvl="2"/>
                <a:r>
                  <a:rPr lang="en-US" altLang="ja-JP"/>
                  <a:t>SDF</a:t>
                </a:r>
                <a:r>
                  <a:rPr lang="ja-JP" altLang="en-US"/>
                  <a:t>を</a:t>
                </a:r>
                <a:r>
                  <a:rPr lang="en-US" altLang="ja-JP"/>
                  <a:t>2</a:t>
                </a:r>
                <a:r>
                  <a:rPr lang="ja-JP" altLang="en-US"/>
                  <a:t>つの周辺化</a:t>
                </a:r>
                <a:r>
                  <a:rPr lang="en-US" altLang="ja-JP"/>
                  <a:t>SDF</a:t>
                </a:r>
                <a:r>
                  <a:rPr lang="ja-JP" altLang="en-US"/>
                  <a:t>の積に分離するために必要な特性</a:t>
                </a:r>
                <a:endParaRPr lang="en-US" altLang="ja-JP"/>
              </a:p>
              <a:p>
                <a:pPr lvl="8"/>
                <a:endParaRPr lang="en-US" altLang="ja-JP"/>
              </a:p>
              <a:p>
                <a:r>
                  <a:rPr lang="ja-JP" altLang="en-US"/>
                  <a:t>生成</a:t>
                </a:r>
                <a:endParaRPr lang="en-US" altLang="ja-JP"/>
              </a:p>
              <a:p>
                <a:pPr lvl="1"/>
                <a14:m>
                  <m:oMath xmlns:m="http://schemas.openxmlformats.org/officeDocument/2006/math"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=0.5 </m:t>
                    </m:r>
                  </m:oMath>
                </a14:m>
                <a:r>
                  <a:rPr lang="ja-JP" altLang="en-US"/>
                  <a:t>の</a:t>
                </a:r>
                <a:r>
                  <a:rPr lang="en-US" altLang="ja-JP"/>
                  <a:t>Beckmann</a:t>
                </a:r>
                <a:r>
                  <a:rPr lang="ja-JP" altLang="en-US"/>
                  <a:t>分布の重点的サンプリング</a:t>
                </a:r>
                <a:endParaRPr lang="en-US" altLang="ja-JP"/>
              </a:p>
              <a:p>
                <a:pPr lvl="2"/>
                <a14:m>
                  <m:oMath xmlns:m="http://schemas.openxmlformats.org/officeDocument/2006/math"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≠0.5</m:t>
                    </m:r>
                  </m:oMath>
                </a14:m>
                <a:r>
                  <a:rPr lang="ja-JP" altLang="en-US"/>
                  <a:t>はテーブルのサンプリングの工夫で対応</a:t>
                </a:r>
                <a:endParaRPr lang="en-US" altLang="ja-JP"/>
              </a:p>
              <a:p>
                <a:pPr lvl="1"/>
                <a14:m>
                  <m:oMath xmlns:m="http://schemas.openxmlformats.org/officeDocument/2006/math"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=0.02</m:t>
                    </m:r>
                  </m:oMath>
                </a14:m>
                <a:r>
                  <a:rPr lang="ja-JP" altLang="en-US"/>
                  <a:t>のガウスでテーブルに値を記録</a:t>
                </a:r>
                <a:endParaRPr lang="en-US" altLang="ja-JP"/>
              </a:p>
              <a:p>
                <a:pPr lvl="1"/>
                <a:r>
                  <a:rPr lang="ja-JP" altLang="en-US"/>
                  <a:t>ミップレベル数は</a:t>
                </a:r>
                <a:r>
                  <a:rPr lang="en-US" altLang="ja-JP"/>
                  <a:t>16</a:t>
                </a:r>
              </a:p>
              <a:p>
                <a:pPr lvl="1"/>
                <a:r>
                  <a:rPr lang="ja-JP" altLang="en-US"/>
                  <a:t>ミップレベル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𝑙</m:t>
                    </m:r>
                  </m:oMath>
                </a14:m>
                <a:r>
                  <a:rPr lang="ja-JP" altLang="en-US"/>
                  <a:t>で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</m:sup>
                    </m:sSup>
                  </m:oMath>
                </a14:m>
                <a:r>
                  <a:rPr lang="ja-JP" altLang="en-US"/>
                  <a:t>サンプルを使用</a:t>
                </a:r>
                <a:endParaRPr lang="en-US" altLang="ja-JP"/>
              </a:p>
              <a:p>
                <a:pPr lvl="1"/>
                <a:r>
                  <a:rPr kumimoji="1" lang="ja-JP" altLang="en-US"/>
                  <a:t>ミップレベル</a:t>
                </a:r>
                <a14:m>
                  <m:oMath xmlns:m="http://schemas.openxmlformats.org/officeDocument/2006/math"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𝑙</m:t>
                    </m:r>
                  </m:oMath>
                </a14:m>
                <a:r>
                  <a:rPr kumimoji="1" lang="ja-JP" altLang="en-US"/>
                  <a:t>のサンプルは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p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𝑙</m:t>
                    </m:r>
                  </m:oMath>
                </a14:m>
                <a:r>
                  <a:rPr kumimoji="1" lang="ja-JP" altLang="en-US"/>
                  <a:t>でも</a:t>
                </a:r>
                <a:r>
                  <a:rPr lang="ja-JP" altLang="en-US"/>
                  <a:t>使用</a:t>
                </a:r>
                <a:endParaRPr lang="en-US" altLang="ja-JP"/>
              </a:p>
              <a:p>
                <a:pPr lvl="1"/>
                <a:r>
                  <a:rPr kumimoji="1" lang="ja-JP" altLang="en-US"/>
                  <a:t>テーブルの範囲は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>
                            <a:latin typeface="Cambria Math" panose="02040503050406030204" pitchFamily="18" charset="0"/>
                          </a:rPr>
                          <m:t>0,</m:t>
                        </m:r>
                        <m:f>
                          <m:fPr>
                            <m:ctrlP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kumimoji="1" lang="en-US" altLang="ja-JP" b="0" i="1" smtClean="0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den>
                        </m:f>
                      </m:e>
                    </m:d>
                  </m:oMath>
                </a14:m>
                <a:endParaRPr kumimoji="1" lang="en-US" altLang="ja-JP"/>
              </a:p>
              <a:p>
                <a:pPr lvl="1"/>
                <a:r>
                  <a:rPr kumimoji="1" lang="ja-JP" altLang="en-US"/>
                  <a:t>テーブル解像度は</a:t>
                </a:r>
                <a:r>
                  <a:rPr kumimoji="1" lang="en-US" altLang="ja-JP"/>
                  <a:t>64</a:t>
                </a:r>
              </a:p>
              <a:p>
                <a:pPr lvl="1"/>
                <a:r>
                  <a:rPr lang="ja-JP" altLang="en-US"/>
                  <a:t>テーブル数は</a:t>
                </a:r>
                <a:r>
                  <a:rPr lang="en-US" altLang="ja-JP"/>
                  <a:t>192</a:t>
                </a:r>
                <a:endParaRPr kumimoji="1" lang="en-US" altLang="ja-JP"/>
              </a:p>
              <a:p>
                <a:endParaRPr kumimoji="1" lang="ja-JP" altLang="en-US"/>
              </a:p>
            </p:txBody>
          </p:sp>
        </mc:Choice>
        <mc:Fallback xmlns="">
          <p:sp>
            <p:nvSpPr>
              <p:cNvPr id="3" name="コンテンツ プレースホルダー 2">
                <a:extLst>
                  <a:ext uri="{FF2B5EF4-FFF2-40B4-BE49-F238E27FC236}">
                    <a16:creationId xmlns:a16="http://schemas.microsoft.com/office/drawing/2014/main" id="{8A204AFC-8809-FA81-E689-E3F638C0912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2521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図 4">
            <a:extLst>
              <a:ext uri="{FF2B5EF4-FFF2-40B4-BE49-F238E27FC236}">
                <a16:creationId xmlns:a16="http://schemas.microsoft.com/office/drawing/2014/main" id="{5995A22E-947B-D1F8-4C18-73080271A3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06140" y="2751667"/>
            <a:ext cx="2447660" cy="3425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08955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5842F58-F2F4-328F-4919-D6967E7C0E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Beckamnn NDF</a:t>
            </a:r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コンテンツ プレースホルダー 2">
                <a:extLst>
                  <a:ext uri="{FF2B5EF4-FFF2-40B4-BE49-F238E27FC236}">
                    <a16:creationId xmlns:a16="http://schemas.microsoft.com/office/drawing/2014/main" id="{2C1D8033-2614-9CC3-D8BB-B67BD50E29B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endParaRPr kumimoji="1" lang="en-US" altLang="ja-JP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𝐷</m:t>
                      </m:r>
                      <m:d>
                        <m:dPr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</m:e>
                      </m:d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  <m:sSup>
                            <m:sSupPr>
                              <m:ctrlP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p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func>
                            <m:funcPr>
                              <m:ctrlP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p>
                                <m:sSupPr>
                                  <m:ctrlP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ja-JP" b="0" i="0" smtClean="0">
                                      <a:latin typeface="Cambria Math" panose="02040503050406030204" pitchFamily="18" charset="0"/>
                                    </a:rPr>
                                    <m:t>cos</m:t>
                                  </m:r>
                                </m:e>
                                <m:sup>
                                  <m: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p>
                              </m:sSup>
                            </m:fName>
                            <m:e>
                              <m:sSub>
                                <m:sSubPr>
                                  <m:ctrlP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b>
                              </m:sSub>
                            </m:e>
                          </m:func>
                        </m:den>
                      </m:f>
                      <m:func>
                        <m:funcPr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ja-JP" b="0" i="0" smtClean="0">
                              <a:latin typeface="Cambria Math" panose="02040503050406030204" pitchFamily="18" charset="0"/>
                            </a:rPr>
                            <m:t>exp</m:t>
                          </m:r>
                        </m:fName>
                        <m:e>
                          <m:d>
                            <m:dPr>
                              <m:ctrlP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func>
                                    <m:funcPr>
                                      <m:ctrlPr>
                                        <a:rPr lang="en-US" altLang="ja-JP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sSup>
                                        <m:sSupPr>
                                          <m:ctrlPr>
                                            <a:rPr lang="en-US" altLang="ja-JP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altLang="ja-JP" b="0" i="0" smtClean="0">
                                              <a:latin typeface="Cambria Math" panose="02040503050406030204" pitchFamily="18" charset="0"/>
                                            </a:rPr>
                                            <m:t>tan</m:t>
                                          </m:r>
                                        </m:e>
                                        <m:sup>
                                          <m:r>
                                            <a:rPr lang="en-US" altLang="ja-JP" b="0" i="1" smtClean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fName>
                                    <m:e>
                                      <m:sSub>
                                        <m:sSubPr>
                                          <m:ctrlPr>
                                            <a:rPr lang="en-US" altLang="ja-JP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ja-JP" b="0" i="1" smtClean="0">
                                              <a:latin typeface="Cambria Math" panose="02040503050406030204" pitchFamily="18" charset="0"/>
                                            </a:rPr>
                                            <m:t>𝜃</m:t>
                                          </m:r>
                                        </m:e>
                                        <m:sub>
                                          <m:r>
                                            <a:rPr lang="en-US" altLang="ja-JP" b="0" i="1" smtClean="0">
                                              <a:latin typeface="Cambria Math" panose="02040503050406030204" pitchFamily="18" charset="0"/>
                                            </a:rPr>
                                            <m:t>𝑚</m:t>
                                          </m:r>
                                        </m:sub>
                                      </m:sSub>
                                    </m:e>
                                  </m:func>
                                </m:num>
                                <m:den>
                                  <m:sSup>
                                    <m:sSupPr>
                                      <m:ctrlPr>
                                        <a:rPr lang="en-US" altLang="ja-JP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ja-JP" b="0" i="1" smtClean="0">
                                          <a:latin typeface="Cambria Math" panose="02040503050406030204" pitchFamily="18" charset="0"/>
                                        </a:rPr>
                                        <m:t>𝛼</m:t>
                                      </m:r>
                                    </m:e>
                                    <m:sup>
                                      <m:r>
                                        <a:rPr lang="en-US" altLang="ja-JP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den>
                              </m:f>
                            </m:e>
                          </m:d>
                        </m:e>
                      </m:func>
                    </m:oMath>
                  </m:oMathPara>
                </a14:m>
                <a:endParaRPr lang="en-US" altLang="ja-JP"/>
              </a:p>
              <a:p>
                <a:pPr lvl="8"/>
                <a:endParaRPr kumimoji="1" lang="en-US" altLang="ja-JP"/>
              </a:p>
              <a:p>
                <a:r>
                  <a:rPr lang="ja-JP" altLang="en-US"/>
                  <a:t>重点的サンプリング</a:t>
                </a:r>
                <a:endParaRPr lang="en-US" altLang="ja-JP"/>
              </a:p>
              <a:p>
                <a:endParaRPr kumimoji="1" lang="en-US" altLang="ja-JP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altLang="ja-JP" b="0" i="0" smtClean="0">
                                  <a:latin typeface="Cambria Math" panose="02040503050406030204" pitchFamily="18" charset="0"/>
                                </a:rPr>
                                <m:t>tan</m:t>
                              </m:r>
                            </m:e>
                            <m:sup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fName>
                        <m:e>
                          <m:sSub>
                            <m:sSubPr>
                              <m:ctrlP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</m:e>
                      </m:func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=−</m:t>
                      </m:r>
                      <m:sSup>
                        <m:sSupPr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p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func>
                        <m:funcPr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ja-JP" b="0" i="0" smtClean="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d>
                            <m:dPr>
                              <m:ctrlP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𝜉</m:t>
                              </m:r>
                            </m:e>
                          </m:d>
                        </m:e>
                      </m:func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,  </m:t>
                      </m:r>
                      <m:r>
                        <a:rPr lang="en-US" altLang="ja-JP" i="1">
                          <a:latin typeface="Cambria Math" panose="02040503050406030204" pitchFamily="18" charset="0"/>
                        </a:rPr>
                        <m:t>𝜙</m:t>
                      </m:r>
                      <m:r>
                        <a:rPr lang="en-US" altLang="ja-JP" i="1"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en-US" altLang="ja-JP" i="1">
                          <a:latin typeface="Cambria Math" panose="02040503050406030204" pitchFamily="18" charset="0"/>
                        </a:rPr>
                        <m:t>𝜋𝜉</m:t>
                      </m:r>
                    </m:oMath>
                    <m:oMath xmlns:m="http://schemas.openxmlformats.org/officeDocument/2006/math"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  <m:oMath xmlns:m="http://schemas.openxmlformats.org/officeDocument/2006/math">
                      <m:func>
                        <m:funcPr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ja-JP" b="0" i="0" smtClean="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func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1+</m:t>
                              </m:r>
                              <m:func>
                                <m:funcPr>
                                  <m:ctrlP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sSup>
                                    <m:sSupPr>
                                      <m:ctrlPr>
                                        <a:rPr lang="en-US" altLang="ja-JP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altLang="ja-JP">
                                          <a:latin typeface="Cambria Math" panose="02040503050406030204" pitchFamily="18" charset="0"/>
                                        </a:rPr>
                                        <m:t>tan</m:t>
                                      </m:r>
                                    </m:e>
                                    <m:sup>
                                      <m:r>
                                        <a:rPr lang="en-US" altLang="ja-JP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fName>
                                <m:e>
                                  <m:sSub>
                                    <m:sSubPr>
                                      <m:ctrlPr>
                                        <a:rPr lang="en-US" altLang="ja-JP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ja-JP" i="1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en-US" altLang="ja-JP" i="1"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sub>
                                  </m:sSub>
                                </m:e>
                              </m:func>
                            </m:e>
                          </m:rad>
                        </m:den>
                      </m:f>
                    </m:oMath>
                  </m:oMathPara>
                </a14:m>
                <a:endParaRPr lang="en-US" altLang="ja-JP"/>
              </a:p>
              <a:p>
                <a:endParaRPr kumimoji="1" lang="en-US" altLang="ja-JP"/>
              </a:p>
              <a:p>
                <a:endParaRPr kumimoji="1" lang="en-US" altLang="ja-JP"/>
              </a:p>
              <a:p>
                <a:endParaRPr kumimoji="1" lang="ja-JP" altLang="en-US"/>
              </a:p>
            </p:txBody>
          </p:sp>
        </mc:Choice>
        <mc:Fallback xmlns="">
          <p:sp>
            <p:nvSpPr>
              <p:cNvPr id="3" name="コンテンツ プレースホルダー 2">
                <a:extLst>
                  <a:ext uri="{FF2B5EF4-FFF2-40B4-BE49-F238E27FC236}">
                    <a16:creationId xmlns:a16="http://schemas.microsoft.com/office/drawing/2014/main" id="{2C1D8033-2614-9CC3-D8BB-B67BD50E29B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373153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6D1DF82-40B0-C25C-4C46-F26EB35377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LOD</a:t>
            </a:r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E3DC485-C2EC-1AA4-D3CF-02BE4996CB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/>
              <a:t>厳密な</a:t>
            </a:r>
            <a:r>
              <a:rPr kumimoji="1" lang="en-US" altLang="ja-JP"/>
              <a:t>LOD</a:t>
            </a:r>
            <a:r>
              <a:rPr kumimoji="1" lang="ja-JP" altLang="en-US"/>
              <a:t>（他セルの</a:t>
            </a:r>
            <a:r>
              <a:rPr kumimoji="1" lang="en-US" altLang="ja-JP"/>
              <a:t>SDF</a:t>
            </a:r>
            <a:r>
              <a:rPr kumimoji="1" lang="ja-JP" altLang="en-US"/>
              <a:t>の平均）は使用できない</a:t>
            </a:r>
            <a:endParaRPr kumimoji="1" lang="en-US" altLang="ja-JP"/>
          </a:p>
          <a:p>
            <a:r>
              <a:rPr lang="ja-JP" altLang="en-US"/>
              <a:t>少なくとも</a:t>
            </a:r>
            <a:r>
              <a:rPr lang="en-US" altLang="ja-JP"/>
              <a:t>1</a:t>
            </a:r>
            <a:r>
              <a:rPr lang="ja-JP" altLang="en-US"/>
              <a:t>つのセルの</a:t>
            </a:r>
            <a:r>
              <a:rPr lang="en-US" altLang="ja-JP"/>
              <a:t>SDF</a:t>
            </a:r>
            <a:r>
              <a:rPr lang="ja-JP" altLang="en-US"/>
              <a:t>は含むので妥協</a:t>
            </a:r>
            <a:endParaRPr lang="en-US" altLang="ja-JP"/>
          </a:p>
          <a:p>
            <a:pPr lvl="1"/>
            <a:r>
              <a:rPr lang="ja-JP" altLang="en-US"/>
              <a:t>セルに対応する乱数シードを工夫</a:t>
            </a:r>
            <a:endParaRPr lang="en-US" altLang="ja-JP"/>
          </a:p>
          <a:p>
            <a:endParaRPr kumimoji="1" lang="ja-JP" altLang="en-US"/>
          </a:p>
        </p:txBody>
      </p:sp>
      <p:pic>
        <p:nvPicPr>
          <p:cNvPr id="9" name="図 8">
            <a:extLst>
              <a:ext uri="{FF2B5EF4-FFF2-40B4-BE49-F238E27FC236}">
                <a16:creationId xmlns:a16="http://schemas.microsoft.com/office/drawing/2014/main" id="{4342C784-0C87-1BA5-5000-DAAEB4D214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7816" y="3798094"/>
            <a:ext cx="2810267" cy="2105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24712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9205300-2F30-72D9-3AE4-BA201B8A3A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多様化</a:t>
            </a:r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コンテンツ プレースホルダー 2">
                <a:extLst>
                  <a:ext uri="{FF2B5EF4-FFF2-40B4-BE49-F238E27FC236}">
                    <a16:creationId xmlns:a16="http://schemas.microsoft.com/office/drawing/2014/main" id="{5880E80F-C691-148F-FA3D-6ACFA451AD5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kumimoji="1" lang="en-US" altLang="ja-JP"/>
                  <a:t>SDF</a:t>
                </a:r>
                <a:r>
                  <a:rPr kumimoji="1" lang="ja-JP" altLang="en-US"/>
                  <a:t>を変換することで</a:t>
                </a:r>
                <a:r>
                  <a:rPr lang="ja-JP" altLang="en-US"/>
                  <a:t>少ないテーブル数で多様な見た目を表現</a:t>
                </a:r>
                <a:endParaRPr lang="en-US" altLang="ja-JP"/>
              </a:p>
              <a:p>
                <a:r>
                  <a:rPr kumimoji="1" lang="ja-JP" altLang="en-US"/>
                  <a:t>回転</a:t>
                </a:r>
                <a:endParaRPr kumimoji="1" lang="en-US" altLang="ja-JP"/>
              </a:p>
              <a:p>
                <a:pPr lvl="8"/>
                <a:endParaRPr lang="en-US" altLang="ja-JP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22</m:t>
                          </m:r>
                        </m:sub>
                        <m:sup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sup>
                      </m:sSubSup>
                      <m:d>
                        <m:dPr>
                          <m:ctrlP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acc>
                                <m:accPr>
                                  <m:chr m:val="̃"/>
                                  <m:ctrlPr>
                                    <a:rPr kumimoji="1" lang="en-US" altLang="ja-JP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kumimoji="1" lang="en-US" altLang="ja-JP" b="0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</m:acc>
                            </m:sub>
                          </m:sSub>
                        </m:e>
                      </m:d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22</m:t>
                          </m:r>
                        </m:sub>
                      </m:sSub>
                      <m:d>
                        <m:dPr>
                          <m:ctrlP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sub>
                            <m:sup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bSup>
                          <m:sSub>
                            <m:sSubPr>
                              <m:ctrlP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acc>
                                <m:accPr>
                                  <m:chr m:val="̃"/>
                                  <m:ctrlPr>
                                    <a:rPr kumimoji="1" lang="en-US" altLang="ja-JP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kumimoji="1" lang="en-US" altLang="ja-JP" b="0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</m:acc>
                            </m:sub>
                          </m:sSub>
                        </m:e>
                      </m:d>
                    </m:oMath>
                  </m:oMathPara>
                </a14:m>
                <a:endParaRPr kumimoji="1" lang="en-US" altLang="ja-JP"/>
              </a:p>
              <a:p>
                <a:pPr lvl="8"/>
                <a:endParaRPr kumimoji="1" lang="en-US" altLang="ja-JP"/>
              </a:p>
              <a:p>
                <a:r>
                  <a:rPr lang="en-US" altLang="ja-JP"/>
                  <a:t>+</a:t>
                </a:r>
                <a:r>
                  <a:rPr lang="ja-JP" altLang="en-US"/>
                  <a:t>スケーリング</a:t>
                </a:r>
                <a:endParaRPr lang="en-US" altLang="ja-JP"/>
              </a:p>
              <a:p>
                <a:pPr lvl="8"/>
                <a:endParaRPr kumimoji="1" lang="en-US" altLang="ja-JP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22</m:t>
                          </m:r>
                        </m:sub>
                        <m:sup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𝜃𝛼</m:t>
                          </m:r>
                        </m:sup>
                      </m:sSubSup>
                      <m:d>
                        <m:dPr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acc>
                                <m:accPr>
                                  <m:chr m:val="̃"/>
                                  <m:ctrlP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</m:acc>
                            </m:sub>
                          </m:sSub>
                        </m:e>
                      </m:d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𝑑𝑖𝑐𝑡</m:t>
                              </m:r>
                            </m:sub>
                            <m:sup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num>
                        <m:den>
                          <m:sSub>
                            <m:sSubPr>
                              <m:ctrlP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</m:den>
                      </m:f>
                      <m:sSub>
                        <m:sSubPr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22</m:t>
                          </m:r>
                        </m:sub>
                      </m:sSub>
                      <m:d>
                        <m:dPr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sub>
                            <m:sup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bSup>
                          <m:sSubSup>
                            <m:sSubSupPr>
                              <m:ctrlPr>
                                <a:rPr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sub>
                            <m:sup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acc>
                                <m:accPr>
                                  <m:chr m:val="̃"/>
                                  <m:ctrlP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</m:acc>
                            </m:sub>
                          </m:sSub>
                        </m:e>
                      </m:d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,  </m:t>
                      </m:r>
                      <m:sSubSup>
                        <m:sSubSupPr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sub>
                        <m:sup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bSup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>
                                  <m:fPr>
                                    <m:ctrlPr>
                                      <a:rPr lang="en-US" altLang="ja-JP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en-US" altLang="ja-JP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ja-JP" i="1">
                                            <a:latin typeface="Cambria Math" panose="02040503050406030204" pitchFamily="18" charset="0"/>
                                          </a:rPr>
                                          <m:t>𝛼</m:t>
                                        </m:r>
                                      </m:e>
                                      <m:sub>
                                        <m:r>
                                          <a:rPr lang="en-US" altLang="ja-JP" i="1">
                                            <a:latin typeface="Cambria Math" panose="02040503050406030204" pitchFamily="18" charset="0"/>
                                          </a:rPr>
                                          <m:t>𝑑𝑖𝑐𝑡</m:t>
                                        </m:r>
                                      </m:sub>
                                    </m:sSub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  <m:t>𝛼</m:t>
                                        </m:r>
                                      </m:e>
                                      <m:sub>
                                        <m:r>
                                          <a:rPr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  <m:e>
                                <m:r>
                                  <a:rPr lang="en-US" altLang="ja-JP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ja-JP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f>
                                  <m:fPr>
                                    <m:ctrlPr>
                                      <a:rPr lang="en-US" altLang="ja-JP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  <m:t>𝛼</m:t>
                                        </m:r>
                                      </m:e>
                                      <m:sub>
                                        <m:r>
                                          <a:rPr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  <m:t>𝑑𝑖𝑐𝑡</m:t>
                                        </m:r>
                                      </m:sub>
                                    </m:sSub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  <m:t>𝛼</m:t>
                                        </m:r>
                                      </m:e>
                                      <m:sub>
                                        <m:r>
                                          <a:rPr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altLang="ja-JP"/>
              </a:p>
              <a:p>
                <a:endParaRPr lang="en-US" altLang="ja-JP"/>
              </a:p>
              <a:p>
                <a:endParaRPr kumimoji="1" lang="ja-JP" altLang="en-US"/>
              </a:p>
            </p:txBody>
          </p:sp>
        </mc:Choice>
        <mc:Fallback xmlns="">
          <p:sp>
            <p:nvSpPr>
              <p:cNvPr id="3" name="コンテンツ プレースホルダー 2">
                <a:extLst>
                  <a:ext uri="{FF2B5EF4-FFF2-40B4-BE49-F238E27FC236}">
                    <a16:creationId xmlns:a16="http://schemas.microsoft.com/office/drawing/2014/main" id="{5880E80F-C691-148F-FA3D-6ACFA451AD5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3081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189098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242F9CB-5089-3B3A-6B18-0FEBAC869B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Patch BRDF</a:t>
            </a:r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コンテンツ プレースホルダー 2">
                <a:extLst>
                  <a:ext uri="{FF2B5EF4-FFF2-40B4-BE49-F238E27FC236}">
                    <a16:creationId xmlns:a16="http://schemas.microsoft.com/office/drawing/2014/main" id="{881EE28B-233F-C247-81E1-886470F8729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endParaRPr kumimoji="1" lang="en-US" altLang="ja-JP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𝒫</m:t>
                          </m:r>
                        </m:sub>
                      </m:sSub>
                      <m:d>
                        <m:dPr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sub>
                          </m:sSub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  <m:d>
                            <m:dPr>
                              <m:ctrlP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  <m:t>𝑜</m:t>
                                  </m:r>
                                </m:sub>
                              </m:sSub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sub>
                              </m:sSub>
                            </m:e>
                          </m:d>
                          <m:sSub>
                            <m:sSubPr>
                              <m:ctrlP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e>
                            <m:sub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  <m:t>𝑜</m:t>
                                  </m:r>
                                </m:sub>
                              </m:sSub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sub>
                              </m:sSub>
                            </m:e>
                          </m:d>
                          <m:sSub>
                            <m:sSubPr>
                              <m:ctrlP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𝒫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  <m:d>
                            <m:dPr>
                              <m:ctrlP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  <m:t>𝑜</m:t>
                                  </m:r>
                                </m:sub>
                              </m:sSub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∙</m:t>
                              </m:r>
                              <m:sSub>
                                <m:sSubPr>
                                  <m:ctrlP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</m:sub>
                              </m:sSub>
                            </m:e>
                          </m:d>
                          <m:d>
                            <m:dPr>
                              <m:ctrlPr>
                                <a:rPr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∙</m:t>
                              </m:r>
                              <m:sSub>
                                <m:sSubPr>
                                  <m:ctrlP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</m:sub>
                              </m:sSub>
                            </m:e>
                          </m:d>
                        </m:den>
                      </m:f>
                    </m:oMath>
                    <m:oMath xmlns:m="http://schemas.openxmlformats.org/officeDocument/2006/math"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  <m:oMath xmlns:m="http://schemas.openxmlformats.org/officeDocument/2006/math">
                      <m:sSub>
                        <m:sSubPr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sub>
                          </m:sSub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</m:e>
                      </m:d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sub>
                          </m:sSub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</m:e>
                      </m:d>
                      <m:sSub>
                        <m:sSubPr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</m:e>
                      </m:d>
                    </m:oMath>
                    <m:oMath xmlns:m="http://schemas.openxmlformats.org/officeDocument/2006/math"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  </m:t>
                      </m:r>
                    </m:oMath>
                    <m:oMath xmlns:m="http://schemas.openxmlformats.org/officeDocument/2006/math">
                      <m:sSub>
                        <m:sSubPr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𝜔</m:t>
                          </m:r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</m:e>
                      </m:d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𝐻</m:t>
                      </m:r>
                      <m:d>
                        <m:dPr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𝜔</m:t>
                          </m:r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∙</m:t>
                          </m:r>
                          <m:sSub>
                            <m:sSubPr>
                              <m:ctrlP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</m:e>
                      </m:d>
                      <m:func>
                        <m:funcPr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ja-JP" b="0" i="0" smtClean="0">
                              <a:latin typeface="Cambria Math" panose="02040503050406030204" pitchFamily="18" charset="0"/>
                            </a:rPr>
                            <m:t>min</m:t>
                          </m:r>
                        </m:fName>
                        <m:e>
                          <m:d>
                            <m:dPr>
                              <m:ctrlP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1,2</m:t>
                              </m:r>
                              <m:f>
                                <m:fPr>
                                  <m:ctrlP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d>
                                    <m:dPr>
                                      <m:ctrlPr>
                                        <a:rPr lang="en-US" altLang="ja-JP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ja-JP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ja-JP" b="0" i="1" smtClean="0">
                                              <a:latin typeface="Cambria Math" panose="02040503050406030204" pitchFamily="18" charset="0"/>
                                            </a:rPr>
                                            <m:t>𝜔</m:t>
                                          </m:r>
                                        </m:e>
                                        <m:sub>
                                          <m:r>
                                            <a:rPr lang="en-US" altLang="ja-JP" b="0" i="1" smtClean="0">
                                              <a:latin typeface="Cambria Math" panose="02040503050406030204" pitchFamily="18" charset="0"/>
                                            </a:rPr>
                                            <m:t>𝑚</m:t>
                                          </m:r>
                                        </m:sub>
                                      </m:sSub>
                                      <m:r>
                                        <a:rPr lang="en-US" altLang="ja-JP" b="0" i="1" smtClean="0">
                                          <a:latin typeface="Cambria Math" panose="02040503050406030204" pitchFamily="18" charset="0"/>
                                        </a:rPr>
                                        <m:t>∙</m:t>
                                      </m:r>
                                      <m:sSub>
                                        <m:sSubPr>
                                          <m:ctrlPr>
                                            <a:rPr lang="en-US" altLang="ja-JP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ja-JP" b="0" i="1" smtClean="0">
                                              <a:latin typeface="Cambria Math" panose="02040503050406030204" pitchFamily="18" charset="0"/>
                                            </a:rPr>
                                            <m:t>𝜔</m:t>
                                          </m:r>
                                        </m:e>
                                        <m:sub>
                                          <m:r>
                                            <a:rPr lang="en-US" altLang="ja-JP" b="0" i="1" smtClean="0">
                                              <a:latin typeface="Cambria Math" panose="02040503050406030204" pitchFamily="18" charset="0"/>
                                            </a:rPr>
                                            <m:t>𝑔</m:t>
                                          </m:r>
                                        </m:sub>
                                      </m:sSub>
                                    </m:e>
                                  </m:d>
                                  <m:d>
                                    <m:dPr>
                                      <m:ctrlPr>
                                        <a:rPr lang="en-US" altLang="ja-JP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ja-JP" b="0" i="1" smtClean="0">
                                          <a:latin typeface="Cambria Math" panose="02040503050406030204" pitchFamily="18" charset="0"/>
                                        </a:rPr>
                                        <m:t>𝜔</m:t>
                                      </m:r>
                                      <m:r>
                                        <a:rPr lang="en-US" altLang="ja-JP" b="0" i="1" smtClean="0">
                                          <a:latin typeface="Cambria Math" panose="02040503050406030204" pitchFamily="18" charset="0"/>
                                        </a:rPr>
                                        <m:t>∙</m:t>
                                      </m:r>
                                      <m:sSub>
                                        <m:sSubPr>
                                          <m:ctrlPr>
                                            <a:rPr lang="en-US" altLang="ja-JP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ja-JP" b="0" i="1" smtClean="0">
                                              <a:latin typeface="Cambria Math" panose="02040503050406030204" pitchFamily="18" charset="0"/>
                                            </a:rPr>
                                            <m:t>𝜔</m:t>
                                          </m:r>
                                        </m:e>
                                        <m:sub>
                                          <m:r>
                                            <a:rPr lang="en-US" altLang="ja-JP" b="0" i="1" smtClean="0">
                                              <a:latin typeface="Cambria Math" panose="02040503050406030204" pitchFamily="18" charset="0"/>
                                            </a:rPr>
                                            <m:t>𝑔</m:t>
                                          </m:r>
                                        </m:sub>
                                      </m:sSub>
                                    </m:e>
                                  </m:d>
                                </m:num>
                                <m:den>
                                  <m:d>
                                    <m:dPr>
                                      <m:ctrlPr>
                                        <a:rPr lang="en-US" altLang="ja-JP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ja-JP" b="0" i="1" smtClean="0">
                                          <a:latin typeface="Cambria Math" panose="02040503050406030204" pitchFamily="18" charset="0"/>
                                        </a:rPr>
                                        <m:t>𝜔</m:t>
                                      </m:r>
                                      <m:r>
                                        <a:rPr lang="en-US" altLang="ja-JP" b="0" i="1" smtClean="0">
                                          <a:latin typeface="Cambria Math" panose="02040503050406030204" pitchFamily="18" charset="0"/>
                                        </a:rPr>
                                        <m:t>∙</m:t>
                                      </m:r>
                                      <m:sSub>
                                        <m:sSubPr>
                                          <m:ctrlPr>
                                            <a:rPr lang="en-US" altLang="ja-JP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ja-JP" b="0" i="1" smtClean="0">
                                              <a:latin typeface="Cambria Math" panose="02040503050406030204" pitchFamily="18" charset="0"/>
                                            </a:rPr>
                                            <m:t>𝜔</m:t>
                                          </m:r>
                                        </m:e>
                                        <m:sub>
                                          <m:r>
                                            <a:rPr lang="en-US" altLang="ja-JP" b="0" i="1" smtClean="0">
                                              <a:latin typeface="Cambria Math" panose="02040503050406030204" pitchFamily="18" charset="0"/>
                                            </a:rPr>
                                            <m:t>𝑚</m:t>
                                          </m:r>
                                        </m:sub>
                                      </m:sSub>
                                    </m:e>
                                  </m:d>
                                </m:den>
                              </m:f>
                            </m:e>
                          </m:d>
                        </m:e>
                      </m:func>
                    </m:oMath>
                  </m:oMathPara>
                </a14:m>
                <a:endParaRPr lang="en-US" altLang="ja-JP"/>
              </a:p>
              <a:p>
                <a:pPr lvl="8"/>
                <a:endParaRPr lang="en-US" altLang="ja-JP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𝒫</m:t>
                        </m:r>
                      </m:sub>
                    </m:sSub>
                  </m:oMath>
                </a14:m>
                <a:r>
                  <a:rPr lang="ja-JP" altLang="en-US"/>
                  <a:t>はパッチ内のセルでの</a:t>
                </a:r>
                <a:r>
                  <a:rPr lang="en-US" altLang="ja-JP"/>
                  <a:t>SDF</a:t>
                </a:r>
                <a:r>
                  <a:rPr lang="ja-JP" altLang="en-US"/>
                  <a:t>の加重和で計算</a:t>
                </a:r>
                <a:endParaRPr lang="en-US" altLang="ja-JP"/>
              </a:p>
              <a:p>
                <a:pPr lvl="1"/>
                <a:endParaRPr lang="en-US" altLang="ja-JP"/>
              </a:p>
              <a:p>
                <a:endParaRPr lang="en-US" altLang="ja-JP"/>
              </a:p>
              <a:p>
                <a:endParaRPr kumimoji="1" lang="ja-JP" altLang="en-US"/>
              </a:p>
            </p:txBody>
          </p:sp>
        </mc:Choice>
        <mc:Fallback xmlns="">
          <p:sp>
            <p:nvSpPr>
              <p:cNvPr id="3" name="コンテンツ プレースホルダー 2">
                <a:extLst>
                  <a:ext uri="{FF2B5EF4-FFF2-40B4-BE49-F238E27FC236}">
                    <a16:creationId xmlns:a16="http://schemas.microsoft.com/office/drawing/2014/main" id="{881EE28B-233F-C247-81E1-886470F8729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b="-3501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226311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E643A6B-77B9-5F36-A68F-33BBF6D7E3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重点的サンプリング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コンテンツ プレースホルダー 2">
                <a:extLst>
                  <a:ext uri="{FF2B5EF4-FFF2-40B4-BE49-F238E27FC236}">
                    <a16:creationId xmlns:a16="http://schemas.microsoft.com/office/drawing/2014/main" id="{192FFE88-35DE-C479-155A-63F246AD7E2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351338"/>
              </a:xfrm>
            </p:spPr>
            <p:txBody>
              <a:bodyPr>
                <a:normAutofit fontScale="62500" lnSpcReduction="20000"/>
              </a:bodyPr>
              <a:lstStyle/>
              <a:p>
                <a:r>
                  <a:rPr lang="ja-JP" altLang="en-US"/>
                  <a:t>周辺化</a:t>
                </a:r>
                <a:r>
                  <a:rPr lang="en-US" altLang="ja-JP"/>
                  <a:t>SDF</a:t>
                </a:r>
                <a:r>
                  <a:rPr lang="ja-JP" altLang="en-US"/>
                  <a:t>の</a:t>
                </a:r>
                <a:r>
                  <a:rPr lang="en-US" altLang="ja-JP"/>
                  <a:t>CDF</a:t>
                </a:r>
                <a:r>
                  <a:rPr lang="ja-JP" altLang="en-US"/>
                  <a:t>でサンプリングを</a:t>
                </a:r>
                <a:r>
                  <a:rPr lang="en-US" altLang="ja-JP"/>
                  <a:t>2</a:t>
                </a:r>
                <a:r>
                  <a:rPr lang="ja-JP" altLang="en-US"/>
                  <a:t>回</a:t>
                </a:r>
                <a:endParaRPr lang="en-US" altLang="ja-JP"/>
              </a:p>
              <a:p>
                <a:r>
                  <a:rPr kumimoji="1" lang="ja-JP" altLang="en-US"/>
                  <a:t>スケーリング＆回転</a:t>
                </a:r>
                <a:endParaRPr kumimoji="1" lang="en-US" altLang="ja-JP"/>
              </a:p>
              <a:p>
                <a:endParaRPr kumimoji="1" lang="en-US" altLang="ja-JP"/>
              </a:p>
              <a:p>
                <a:r>
                  <a:rPr lang="en-US" altLang="ja-JP"/>
                  <a:t>PDF</a:t>
                </a:r>
                <a:endParaRPr kumimoji="1" lang="en-US" altLang="ja-JP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</m:e>
                      </m:d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ja-JP" i="1">
                          <a:latin typeface="Cambria Math" panose="02040503050406030204" pitchFamily="18" charset="0"/>
                        </a:rPr>
                        <m:t>𝐷</m:t>
                      </m:r>
                      <m:d>
                        <m:dPr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</m:e>
                      </m:d>
                      <m:func>
                        <m:funcPr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ja-JP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sSub>
                            <m:sSubPr>
                              <m:ctrlPr>
                                <a:rPr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</m:e>
                      </m:func>
                    </m:oMath>
                  </m:oMathPara>
                </a14:m>
                <a:endParaRPr kumimoji="1" lang="en-US" altLang="ja-JP"/>
              </a:p>
              <a:p>
                <a:pPr lvl="8"/>
                <a:endParaRPr lang="en-US" altLang="ja-JP" b="0" i="1">
                  <a:latin typeface="Cambria Math" panose="02040503050406030204" pitchFamily="18" charset="0"/>
                </a:endParaRPr>
              </a:p>
              <a:p>
                <a:r>
                  <a:rPr lang="en-US" altLang="ja-JP">
                    <a:latin typeface="Cambria Math" panose="02040503050406030204" pitchFamily="18" charset="0"/>
                  </a:rPr>
                  <a:t>V-cavity</a:t>
                </a:r>
                <a:r>
                  <a:rPr lang="ja-JP" altLang="en-US">
                    <a:latin typeface="Cambria Math" panose="02040503050406030204" pitchFamily="18" charset="0"/>
                  </a:rPr>
                  <a:t>の幾何項なので投影面積を考慮したサンプリングが可能</a:t>
                </a:r>
                <a:endParaRPr lang="en-US" altLang="ja-JP">
                  <a:latin typeface="Cambria Math" panose="02040503050406030204" pitchFamily="18" charset="0"/>
                </a:endParaRPr>
              </a:p>
              <a:p>
                <a:pPr lvl="8"/>
                <a:endParaRPr lang="en-US" altLang="ja-JP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sub>
                          </m:sSub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</m:e>
                      </m:d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𝐷</m:t>
                      </m:r>
                      <m:d>
                        <m:dPr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sub>
                          </m:sSub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</m:e>
                      </m:d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ja-JP" i="1">
                          <a:latin typeface="Cambria Math" panose="02040503050406030204" pitchFamily="18" charset="0"/>
                        </a:rPr>
                        <m:t>𝐷</m:t>
                      </m:r>
                      <m:d>
                        <m:dPr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</m:e>
                      </m:d>
                      <m:sSub>
                        <m:sSubPr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sub>
                          </m:sSub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altLang="ja-JP">
                  <a:latin typeface="Cambria Math" panose="02040503050406030204" pitchFamily="18" charset="0"/>
                </a:endParaRPr>
              </a:p>
              <a:p>
                <a:pPr lvl="8"/>
                <a:endParaRPr lang="en-US" altLang="ja-JP" b="0" i="1">
                  <a:latin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  <m:sup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,−</m:t>
                        </m:r>
                        <m:sSub>
                          <m:sSubPr>
                            <m:ctrlP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e>
                    </m:d>
                  </m:oMath>
                </a14:m>
                <a:endParaRPr lang="en-US" altLang="ja-JP">
                  <a:latin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𝑝𝑟𝑜𝑗𝐴𝑟𝑒𝑎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begChr m:val="⟨"/>
                            <m:endChr m:val="⟩"/>
                            <m:ctrlP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𝜔</m:t>
                                </m:r>
                              </m:e>
                              <m:sub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𝑜</m:t>
                                </m:r>
                              </m:sub>
                            </m:sSub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∙</m:t>
                            </m:r>
                            <m:sSubSup>
                              <m:sSubSupPr>
                                <m:ctrlPr>
                                  <a:rPr lang="en-US" altLang="ja-JP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𝜔</m:t>
                                </m:r>
                              </m:e>
                              <m:sub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sub>
                              <m:sup>
                                <m:r>
                                  <a:rPr lang="en-US" altLang="ja-JP" b="0" i="1" smtClean="0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bSup>
                          </m:e>
                        </m:d>
                      </m:num>
                      <m:den>
                        <m:d>
                          <m:dPr>
                            <m:begChr m:val="⟨"/>
                            <m:endChr m:val="⟩"/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𝜔</m:t>
                                </m:r>
                              </m:e>
                              <m:sub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𝑜</m:t>
                                </m:r>
                              </m:sub>
                            </m:sSub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∙</m:t>
                            </m:r>
                            <m:sSub>
                              <m:sSubPr>
                                <m:ctrlP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𝜔</m:t>
                                </m:r>
                              </m:e>
                              <m:sub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sub>
                            </m:sSub>
                          </m:e>
                        </m:d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d>
                          <m:dPr>
                            <m:begChr m:val="⟨"/>
                            <m:endChr m:val="⟩"/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𝜔</m:t>
                                </m:r>
                              </m:e>
                              <m:sub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𝑜</m:t>
                                </m:r>
                              </m:sub>
                            </m:sSub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∙</m:t>
                            </m:r>
                            <m:sSubSup>
                              <m:sSubSupPr>
                                <m:ctrlPr>
                                  <a:rPr lang="en-US" altLang="ja-JP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𝜔</m:t>
                                </m:r>
                              </m:e>
                              <m:sub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sub>
                              <m:sup>
                                <m:r>
                                  <a:rPr lang="en-US" altLang="ja-JP" b="0" i="1" smtClean="0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bSup>
                          </m:e>
                        </m:d>
                      </m:den>
                    </m:f>
                  </m:oMath>
                </a14:m>
                <a:r>
                  <a:rPr lang="ja-JP" altLang="en-US">
                    <a:latin typeface="Cambria Math" panose="02040503050406030204" pitchFamily="18" charset="0"/>
                  </a:rPr>
                  <a:t> で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  <m:sup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</m:oMath>
                </a14:m>
                <a:endParaRPr lang="en-US" altLang="ja-JP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ja-JP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ja-JP" b="0" i="0" smtClean="0">
                        <a:latin typeface="Cambria Math" panose="02040503050406030204" pitchFamily="18" charset="0"/>
                      </a:rPr>
                      <m:t>reflect</m:t>
                    </m:r>
                    <m:d>
                      <m:d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𝑜</m:t>
                            </m:r>
                          </m:sub>
                        </m:sSub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ja-JP">
                    <a:latin typeface="Cambria Math" panose="02040503050406030204" pitchFamily="18" charset="0"/>
                  </a:rPr>
                  <a:t> </a:t>
                </a:r>
                <a:r>
                  <a:rPr lang="ja-JP" altLang="en-US">
                    <a:latin typeface="Cambria Math" panose="02040503050406030204" pitchFamily="18" charset="0"/>
                  </a:rPr>
                  <a:t>なので</a:t>
                </a:r>
                <a:endParaRPr lang="en-US" altLang="ja-JP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sub>
                          </m:sSub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  <m:d>
                            <m:dPr>
                              <m:ctrlP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  <m:t>𝑜</m:t>
                                  </m:r>
                                </m:sub>
                              </m:sSub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  <m:d>
                            <m:dPr>
                              <m:ctrlP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  <m:t>𝑜</m:t>
                                  </m:r>
                                </m:sub>
                              </m:sSub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∙</m:t>
                              </m:r>
                              <m:sSub>
                                <m:sSubPr>
                                  <m:ctrlP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b>
                              </m:sSub>
                            </m:e>
                          </m:d>
                        </m:den>
                      </m:f>
                    </m:oMath>
                  </m:oMathPara>
                </a14:m>
                <a:endParaRPr lang="en-US" altLang="ja-JP">
                  <a:latin typeface="Cambria Math" panose="02040503050406030204" pitchFamily="18" charset="0"/>
                </a:endParaRPr>
              </a:p>
              <a:p>
                <a:endParaRPr lang="en-US" altLang="ja-JP">
                  <a:latin typeface="Cambria Math" panose="02040503050406030204" pitchFamily="18" charset="0"/>
                </a:endParaRPr>
              </a:p>
              <a:p>
                <a:endParaRPr lang="en-US" altLang="ja-JP">
                  <a:latin typeface="Cambria Math" panose="02040503050406030204" pitchFamily="18" charset="0"/>
                </a:endParaRPr>
              </a:p>
              <a:p>
                <a:endParaRPr lang="en-US" altLang="ja-JP" b="0" i="1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コンテンツ プレースホルダー 2">
                <a:extLst>
                  <a:ext uri="{FF2B5EF4-FFF2-40B4-BE49-F238E27FC236}">
                    <a16:creationId xmlns:a16="http://schemas.microsoft.com/office/drawing/2014/main" id="{192FFE88-35DE-C479-155A-63F246AD7E2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351338"/>
              </a:xfrm>
              <a:blipFill>
                <a:blip r:embed="rId3"/>
                <a:stretch>
                  <a:fillRect l="-406" t="-2241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35910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8" name="テキスト ボックス 7">
                <a:extLst>
                  <a:ext uri="{FF2B5EF4-FFF2-40B4-BE49-F238E27FC236}">
                    <a16:creationId xmlns:a16="http://schemas.microsoft.com/office/drawing/2014/main" id="{A7C6C87D-204F-7876-A531-9686679968E8}"/>
                  </a:ext>
                </a:extLst>
              </p:cNvPr>
              <p:cNvSpPr txBox="1"/>
              <p:nvPr/>
            </p:nvSpPr>
            <p:spPr>
              <a:xfrm>
                <a:off x="6647341" y="2224088"/>
                <a:ext cx="5544659" cy="452085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16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kumimoji="1" lang="en-US" altLang="ja-JP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kumimoji="1" lang="en-US" altLang="ja-JP" sz="1600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kumimoji="1" lang="en-US" altLang="ja-JP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16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kumimoji="1" lang="en-US" altLang="ja-JP" sz="16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kumimoji="1" lang="en-US" altLang="ja-JP" sz="1600" b="0" i="1" smtClean="0">
                          <a:latin typeface="Cambria Math" panose="02040503050406030204" pitchFamily="18" charset="0"/>
                        </a:rPr>
                        <m:t>,  </m:t>
                      </m:r>
                      <m:r>
                        <a:rPr kumimoji="1" lang="en-US" altLang="ja-JP" sz="1600" b="0" i="1" smtClean="0">
                          <a:latin typeface="Cambria Math" panose="02040503050406030204" pitchFamily="18" charset="0"/>
                        </a:rPr>
                        <m:t>𝑢</m:t>
                      </m:r>
                      <m:sSub>
                        <m:sSubPr>
                          <m:ctrlPr>
                            <a:rPr kumimoji="1" lang="en-US" altLang="ja-JP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1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kumimoji="1" lang="en-US" altLang="ja-JP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kumimoji="1" lang="en-US" altLang="ja-JP" sz="16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kumimoji="1" lang="en-US" altLang="ja-JP" sz="1600" b="0" i="1" smtClean="0">
                          <a:latin typeface="Cambria Math" panose="02040503050406030204" pitchFamily="18" charset="0"/>
                        </a:rPr>
                        <m:t>𝑢</m:t>
                      </m:r>
                      <m:sSub>
                        <m:sSubPr>
                          <m:ctrlPr>
                            <a:rPr kumimoji="1" lang="en-US" altLang="ja-JP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1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kumimoji="1" lang="en-US" altLang="ja-JP" sz="16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  <m:oMath xmlns:m="http://schemas.openxmlformats.org/officeDocument/2006/math">
                      <m:r>
                        <a:rPr kumimoji="1" lang="en-US" altLang="ja-JP" sz="1600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16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kumimoji="1" lang="en-US" altLang="ja-JP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kumimoji="1" lang="en-US" altLang="ja-JP" sz="1600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kumimoji="1" lang="en-US" altLang="ja-JP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16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kumimoji="1" lang="en-US" altLang="ja-JP" sz="16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kumimoji="1" lang="en-US" altLang="ja-JP" sz="1600" b="0" i="1" smtClean="0">
                          <a:latin typeface="Cambria Math" panose="02040503050406030204" pitchFamily="18" charset="0"/>
                        </a:rPr>
                        <m:t>,  </m:t>
                      </m:r>
                      <m:r>
                        <a:rPr kumimoji="1" lang="en-US" altLang="ja-JP" sz="1600" b="0" i="1" smtClean="0">
                          <a:latin typeface="Cambria Math" panose="02040503050406030204" pitchFamily="18" charset="0"/>
                        </a:rPr>
                        <m:t>𝑢</m:t>
                      </m:r>
                      <m:sSub>
                        <m:sSubPr>
                          <m:ctrlPr>
                            <a:rPr kumimoji="1" lang="en-US" altLang="ja-JP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1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kumimoji="1" lang="en-US" altLang="ja-JP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kumimoji="1" lang="en-US" altLang="ja-JP" sz="16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kumimoji="1" lang="en-US" altLang="ja-JP" sz="1600" b="0" i="1" smtClean="0">
                          <a:latin typeface="Cambria Math" panose="02040503050406030204" pitchFamily="18" charset="0"/>
                        </a:rPr>
                        <m:t>𝑢</m:t>
                      </m:r>
                      <m:sSub>
                        <m:sSubPr>
                          <m:ctrlPr>
                            <a:rPr kumimoji="1" lang="en-US" altLang="ja-JP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1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kumimoji="1" lang="en-US" altLang="ja-JP" sz="16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  <m:oMath xmlns:m="http://schemas.openxmlformats.org/officeDocument/2006/math">
                      <m:r>
                        <a:rPr kumimoji="1" lang="en-US" altLang="ja-JP" sz="1600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  <m:oMath xmlns:m="http://schemas.openxmlformats.org/officeDocument/2006/math">
                      <m:d>
                        <m:dPr>
                          <m:ctrlPr>
                            <a:rPr kumimoji="1" lang="en-US" altLang="ja-JP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kumimoji="1" lang="en-US" altLang="ja-JP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>
                                  <m:fPr>
                                    <m:ctrlPr>
                                      <a:rPr kumimoji="1" lang="en-US" altLang="ja-JP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1" lang="en-US" altLang="ja-JP" sz="1600" b="0" i="1" smtClean="0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kumimoji="1" lang="en-US" altLang="ja-JP" sz="16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num>
                                  <m:den>
                                    <m:r>
                                      <a:rPr kumimoji="1" lang="en-US" altLang="ja-JP" sz="1600" b="0" i="1" smtClean="0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kumimoji="1" lang="en-US" altLang="ja-JP" sz="1600" b="0" i="1" smtClean="0"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den>
                                </m:f>
                              </m:e>
                              <m:e>
                                <m:f>
                                  <m:fPr>
                                    <m:ctrlPr>
                                      <a:rPr kumimoji="1" lang="en-US" altLang="ja-JP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1" lang="en-US" altLang="ja-JP" sz="1600" b="0" i="1" smtClean="0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kumimoji="1" lang="en-US" altLang="ja-JP" sz="16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num>
                                  <m:den>
                                    <m:r>
                                      <a:rPr kumimoji="1" lang="en-US" altLang="ja-JP" sz="1600" b="0" i="1" smtClean="0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kumimoji="1" lang="en-US" altLang="ja-JP" sz="1600" b="0" i="1" smtClean="0"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den>
                                </m:f>
                              </m:e>
                            </m:mr>
                            <m:mr>
                              <m:e>
                                <m:f>
                                  <m:fPr>
                                    <m:ctrlPr>
                                      <a:rPr kumimoji="1" lang="en-US" altLang="ja-JP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1" lang="en-US" altLang="ja-JP" sz="1600" b="0" i="1" smtClean="0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kumimoji="1" lang="en-US" altLang="ja-JP" sz="1600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num>
                                  <m:den>
                                    <m:r>
                                      <a:rPr kumimoji="1" lang="en-US" altLang="ja-JP" sz="1600" b="0" i="1" smtClean="0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kumimoji="1" lang="en-US" altLang="ja-JP" sz="1600" b="0" i="1" smtClean="0"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den>
                                </m:f>
                              </m:e>
                              <m:e>
                                <m:f>
                                  <m:fPr>
                                    <m:ctrlPr>
                                      <a:rPr kumimoji="1" lang="en-US" altLang="ja-JP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1" lang="en-US" altLang="ja-JP" sz="1600" i="1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kumimoji="1" lang="en-US" altLang="ja-JP" sz="1600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num>
                                  <m:den>
                                    <m:r>
                                      <a:rPr kumimoji="1" lang="en-US" altLang="ja-JP" sz="1600" i="1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kumimoji="1" lang="en-US" altLang="ja-JP" sz="1600" b="0" i="1" smtClean="0"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den>
                                </m:f>
                              </m:e>
                            </m:mr>
                            <m:mr>
                              <m:e>
                                <m:f>
                                  <m:fPr>
                                    <m:ctrlPr>
                                      <a:rPr kumimoji="1" lang="en-US" altLang="ja-JP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1" lang="en-US" altLang="ja-JP" sz="1600" i="1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kumimoji="1" lang="en-US" altLang="ja-JP" sz="1600" b="0" i="1" smtClean="0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num>
                                  <m:den>
                                    <m:r>
                                      <a:rPr kumimoji="1" lang="en-US" altLang="ja-JP" sz="1600" i="1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kumimoji="1" lang="en-US" altLang="ja-JP" sz="1600" i="1"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den>
                                </m:f>
                              </m:e>
                              <m:e>
                                <m:f>
                                  <m:fPr>
                                    <m:ctrlPr>
                                      <a:rPr kumimoji="1" lang="en-US" altLang="ja-JP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1" lang="en-US" altLang="ja-JP" sz="1600" i="1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kumimoji="1" lang="en-US" altLang="ja-JP" sz="1600" b="0" i="1" smtClean="0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num>
                                  <m:den>
                                    <m:r>
                                      <a:rPr kumimoji="1" lang="en-US" altLang="ja-JP" sz="1600" i="1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kumimoji="1" lang="en-US" altLang="ja-JP" sz="1600" b="0" i="1" smtClean="0"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den>
                                </m:f>
                              </m:e>
                            </m:mr>
                          </m:m>
                        </m:e>
                      </m:d>
                      <m:d>
                        <m:dPr>
                          <m:ctrlPr>
                            <a:rPr kumimoji="1" lang="en-US" altLang="ja-JP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kumimoji="1" lang="en-US" altLang="ja-JP" sz="16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kumimoji="1" lang="en-US" altLang="ja-JP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ja-JP" sz="1600" b="0" i="1" smtClean="0"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kumimoji="1" lang="en-US" altLang="ja-JP" sz="16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m:rPr>
                                    <m:brk m:alnAt="7"/>
                                  </m:rPr>
                                  <a:rPr kumimoji="1" lang="en-US" altLang="ja-JP" sz="160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kumimoji="1" lang="en-US" altLang="ja-JP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ja-JP" sz="1600" b="0" i="1" smtClean="0"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kumimoji="1" lang="en-US" altLang="ja-JP" sz="1600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kumimoji="1" lang="en-US" altLang="ja-JP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ja-JP" sz="1600" i="1"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e>
                                  <m:sub>
                                    <m:r>
                                      <a:rPr kumimoji="1" lang="en-US" altLang="ja-JP" sz="16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kumimoji="1" lang="en-US" altLang="ja-JP" sz="160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kumimoji="1" lang="en-US" altLang="ja-JP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ja-JP" sz="1600" i="1"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e>
                                  <m:sub>
                                    <m:r>
                                      <a:rPr kumimoji="1" lang="en-US" altLang="ja-JP" sz="1600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kumimoji="1" lang="en-US" altLang="ja-JP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ja-JP" sz="1600" i="1"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kumimoji="1" lang="en-US" altLang="ja-JP" sz="16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kumimoji="1" lang="en-US" altLang="ja-JP" sz="160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kumimoji="1" lang="en-US" altLang="ja-JP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ja-JP" sz="1600" i="1"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kumimoji="1" lang="en-US" altLang="ja-JP" sz="1600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kumimoji="1" lang="en-US" altLang="ja-JP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ja-JP" sz="1600" b="0" i="1" smtClean="0"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kumimoji="1" lang="en-US" altLang="ja-JP" sz="16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kumimoji="1" lang="en-US" altLang="ja-JP" sz="16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kumimoji="1" lang="en-US" altLang="ja-JP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ja-JP" sz="1600" b="0" i="1" smtClean="0"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kumimoji="1" lang="en-US" altLang="ja-JP" sz="16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kumimoji="1" lang="en-US" altLang="ja-JP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kumimoji="1" lang="en-US" altLang="ja-JP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kumimoji="1" lang="en-US" altLang="ja-JP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kumimoji="1" lang="en-US" altLang="ja-JP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ja-JP" sz="16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1" lang="en-US" altLang="ja-JP" sz="16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kumimoji="1" lang="en-US" altLang="ja-JP" sz="16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kumimoji="1" lang="en-US" altLang="ja-JP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ja-JP" sz="16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1" lang="en-US" altLang="ja-JP" sz="16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kumimoji="1" lang="en-US" altLang="ja-JP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ja-JP" sz="16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1" lang="en-US" altLang="ja-JP" sz="16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kumimoji="1" lang="en-US" altLang="ja-JP" sz="160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kumimoji="1" lang="en-US" altLang="ja-JP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ja-JP" sz="16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1" lang="en-US" altLang="ja-JP" sz="1600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kumimoji="1" lang="en-US" altLang="ja-JP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ja-JP" sz="1600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kumimoji="1" lang="en-US" altLang="ja-JP" sz="16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kumimoji="1" lang="en-US" altLang="ja-JP" sz="16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kumimoji="1" lang="en-US" altLang="ja-JP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ja-JP" sz="1600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kumimoji="1" lang="en-US" altLang="ja-JP" sz="16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kumimoji="1" lang="en-US" altLang="ja-JP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ja-JP" sz="1600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kumimoji="1" lang="en-US" altLang="ja-JP" sz="16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kumimoji="1" lang="en-US" altLang="ja-JP" sz="160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kumimoji="1" lang="en-US" altLang="ja-JP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ja-JP" sz="1600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kumimoji="1" lang="en-US" altLang="ja-JP" sz="1600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kumimoji="1" lang="en-US" altLang="ja-JP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ja-JP" sz="1600" b="0" i="1" smtClean="0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  <m:sub>
                                    <m:r>
                                      <a:rPr kumimoji="1" lang="en-US" altLang="ja-JP" sz="16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kumimoji="1" lang="en-US" altLang="ja-JP" sz="16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kumimoji="1" lang="en-US" altLang="ja-JP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ja-JP" sz="1600" b="0" i="1" smtClean="0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  <m:sub>
                                    <m:r>
                                      <a:rPr kumimoji="1" lang="en-US" altLang="ja-JP" sz="16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kumimoji="1" lang="en-US" altLang="ja-JP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ja-JP" sz="1600" i="1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  <m:sub>
                                    <m:r>
                                      <a:rPr kumimoji="1" lang="en-US" altLang="ja-JP" sz="16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kumimoji="1" lang="en-US" altLang="ja-JP" sz="160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kumimoji="1" lang="en-US" altLang="ja-JP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ja-JP" sz="1600" i="1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  <m:sub>
                                    <m:r>
                                      <a:rPr kumimoji="1" lang="en-US" altLang="ja-JP" sz="1600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  <m:oMath xmlns:m="http://schemas.openxmlformats.org/officeDocument/2006/math">
                      <m:r>
                        <a:rPr kumimoji="1" lang="en-US" altLang="ja-JP" sz="1600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  <m:oMath xmlns:m="http://schemas.openxmlformats.org/officeDocument/2006/math">
                      <m:d>
                        <m:dPr>
                          <m:ctrlPr>
                            <a:rPr kumimoji="1" lang="en-US" altLang="ja-JP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kumimoji="1" lang="en-US" altLang="ja-JP" sz="16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>
                                  <m:fPr>
                                    <m:ctrlPr>
                                      <a:rPr kumimoji="1" lang="en-US" altLang="ja-JP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1" lang="en-US" altLang="ja-JP" sz="1600" i="1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kumimoji="1" lang="en-US" altLang="ja-JP" sz="16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num>
                                  <m:den>
                                    <m:r>
                                      <a:rPr kumimoji="1" lang="en-US" altLang="ja-JP" sz="1600" i="1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kumimoji="1" lang="en-US" altLang="ja-JP" sz="1600" i="1"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den>
                                </m:f>
                              </m:e>
                              <m:e>
                                <m:f>
                                  <m:fPr>
                                    <m:ctrlPr>
                                      <a:rPr kumimoji="1" lang="en-US" altLang="ja-JP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1" lang="en-US" altLang="ja-JP" sz="1600" i="1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kumimoji="1" lang="en-US" altLang="ja-JP" sz="16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num>
                                  <m:den>
                                    <m:r>
                                      <a:rPr kumimoji="1" lang="en-US" altLang="ja-JP" sz="1600" i="1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kumimoji="1" lang="en-US" altLang="ja-JP" sz="1600" i="1"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den>
                                </m:f>
                              </m:e>
                            </m:mr>
                            <m:mr>
                              <m:e>
                                <m:f>
                                  <m:fPr>
                                    <m:ctrlPr>
                                      <a:rPr kumimoji="1" lang="en-US" altLang="ja-JP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1" lang="en-US" altLang="ja-JP" sz="1600" i="1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kumimoji="1" lang="en-US" altLang="ja-JP" sz="1600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num>
                                  <m:den>
                                    <m:r>
                                      <a:rPr kumimoji="1" lang="en-US" altLang="ja-JP" sz="1600" i="1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kumimoji="1" lang="en-US" altLang="ja-JP" sz="1600" i="1"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den>
                                </m:f>
                              </m:e>
                              <m:e>
                                <m:f>
                                  <m:fPr>
                                    <m:ctrlPr>
                                      <a:rPr kumimoji="1" lang="en-US" altLang="ja-JP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1" lang="en-US" altLang="ja-JP" sz="1600" i="1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kumimoji="1" lang="en-US" altLang="ja-JP" sz="1600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num>
                                  <m:den>
                                    <m:r>
                                      <a:rPr kumimoji="1" lang="en-US" altLang="ja-JP" sz="1600" i="1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kumimoji="1" lang="en-US" altLang="ja-JP" sz="1600" i="1"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den>
                                </m:f>
                              </m:e>
                            </m:mr>
                            <m:mr>
                              <m:e>
                                <m:f>
                                  <m:fPr>
                                    <m:ctrlPr>
                                      <a:rPr kumimoji="1" lang="en-US" altLang="ja-JP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1" lang="en-US" altLang="ja-JP" sz="1600" i="1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kumimoji="1" lang="en-US" altLang="ja-JP" sz="1600" i="1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num>
                                  <m:den>
                                    <m:r>
                                      <a:rPr kumimoji="1" lang="en-US" altLang="ja-JP" sz="1600" i="1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kumimoji="1" lang="en-US" altLang="ja-JP" sz="1600" i="1"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den>
                                </m:f>
                              </m:e>
                              <m:e>
                                <m:f>
                                  <m:fPr>
                                    <m:ctrlPr>
                                      <a:rPr kumimoji="1" lang="en-US" altLang="ja-JP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1" lang="en-US" altLang="ja-JP" sz="1600" i="1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kumimoji="1" lang="en-US" altLang="ja-JP" sz="1600" i="1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num>
                                  <m:den>
                                    <m:r>
                                      <a:rPr kumimoji="1" lang="en-US" altLang="ja-JP" sz="1600" i="1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kumimoji="1" lang="en-US" altLang="ja-JP" sz="1600" i="1"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den>
                                </m:f>
                              </m:e>
                            </m:mr>
                          </m:m>
                        </m:e>
                      </m:d>
                      <m:r>
                        <a:rPr kumimoji="1" lang="en-US" altLang="ja-JP" sz="16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kumimoji="1" lang="en-US" altLang="ja-JP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kumimoji="1" lang="en-US" altLang="ja-JP" sz="16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kumimoji="1" lang="en-US" altLang="ja-JP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ja-JP" sz="16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1" lang="en-US" altLang="ja-JP" sz="16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kumimoji="1" lang="en-US" altLang="ja-JP" sz="160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kumimoji="1" lang="en-US" altLang="ja-JP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ja-JP" sz="16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1" lang="en-US" altLang="ja-JP" sz="1600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kumimoji="1" lang="en-US" altLang="ja-JP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ja-JP" sz="16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1" lang="en-US" altLang="ja-JP" sz="16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kumimoji="1" lang="en-US" altLang="ja-JP" sz="160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kumimoji="1" lang="en-US" altLang="ja-JP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ja-JP" sz="16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1" lang="en-US" altLang="ja-JP" sz="1600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kumimoji="1" lang="en-US" altLang="ja-JP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ja-JP" sz="1600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kumimoji="1" lang="en-US" altLang="ja-JP" sz="16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kumimoji="1" lang="en-US" altLang="ja-JP" sz="160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kumimoji="1" lang="en-US" altLang="ja-JP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ja-JP" sz="1600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kumimoji="1" lang="en-US" altLang="ja-JP" sz="1600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kumimoji="1" lang="en-US" altLang="ja-JP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ja-JP" sz="1600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kumimoji="1" lang="en-US" altLang="ja-JP" sz="16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kumimoji="1" lang="en-US" altLang="ja-JP" sz="160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kumimoji="1" lang="en-US" altLang="ja-JP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ja-JP" sz="1600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kumimoji="1" lang="en-US" altLang="ja-JP" sz="1600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kumimoji="1" lang="en-US" altLang="ja-JP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ja-JP" sz="1600" i="1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  <m:sub>
                                    <m:r>
                                      <a:rPr kumimoji="1" lang="en-US" altLang="ja-JP" sz="16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kumimoji="1" lang="en-US" altLang="ja-JP" sz="160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kumimoji="1" lang="en-US" altLang="ja-JP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ja-JP" sz="1600" i="1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  <m:sub>
                                    <m:r>
                                      <a:rPr kumimoji="1" lang="en-US" altLang="ja-JP" sz="1600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kumimoji="1" lang="en-US" altLang="ja-JP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ja-JP" sz="1600" i="1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  <m:sub>
                                    <m:r>
                                      <a:rPr kumimoji="1" lang="en-US" altLang="ja-JP" sz="16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kumimoji="1" lang="en-US" altLang="ja-JP" sz="160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kumimoji="1" lang="en-US" altLang="ja-JP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ja-JP" sz="1600" i="1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  <m:sub>
                                    <m:r>
                                      <a:rPr kumimoji="1" lang="en-US" altLang="ja-JP" sz="1600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sSup>
                        <m:sSupPr>
                          <m:ctrlPr>
                            <a:rPr kumimoji="1" lang="en-US" altLang="ja-JP" sz="1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kumimoji="1" lang="en-US" altLang="ja-JP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kumimoji="1" lang="en-US" altLang="ja-JP" sz="1600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sSub>
                                      <m:sSubPr>
                                        <m:ctrlPr>
                                          <a:rPr kumimoji="1" lang="en-US" altLang="ja-JP" sz="16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kumimoji="1" lang="en-US" altLang="ja-JP" sz="1600" i="1">
                                            <a:latin typeface="Cambria Math" panose="02040503050406030204" pitchFamily="18" charset="0"/>
                                          </a:rPr>
                                          <m:t>𝑢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brk m:alnAt="7"/>
                                          </m:rPr>
                                          <a:rPr kumimoji="1" lang="en-US" altLang="ja-JP" sz="1600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r>
                                      <m:rPr>
                                        <m:brk m:alnAt="7"/>
                                      </m:rPr>
                                      <a:rPr kumimoji="1" lang="en-US" altLang="ja-JP" sz="1600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kumimoji="1" lang="en-US" altLang="ja-JP" sz="16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kumimoji="1" lang="en-US" altLang="ja-JP" sz="1600" i="1">
                                            <a:latin typeface="Cambria Math" panose="02040503050406030204" pitchFamily="18" charset="0"/>
                                          </a:rPr>
                                          <m:t>𝑢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brk m:alnAt="7"/>
                                          </m:rPr>
                                          <a:rPr kumimoji="1" lang="en-US" altLang="ja-JP" sz="1600" i="1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sub>
                                    </m:sSub>
                                  </m:e>
                                  <m:e>
                                    <m:sSub>
                                      <m:sSubPr>
                                        <m:ctrlPr>
                                          <a:rPr kumimoji="1" lang="en-US" altLang="ja-JP" sz="16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kumimoji="1" lang="en-US" altLang="ja-JP" sz="1600" i="1">
                                            <a:latin typeface="Cambria Math" panose="02040503050406030204" pitchFamily="18" charset="0"/>
                                          </a:rPr>
                                          <m:t>𝑢</m:t>
                                        </m:r>
                                      </m:e>
                                      <m:sub>
                                        <m:r>
                                          <a:rPr kumimoji="1" lang="en-US" altLang="ja-JP" sz="1600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  <m:r>
                                      <a:rPr kumimoji="1" lang="en-US" altLang="ja-JP" sz="1600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kumimoji="1" lang="en-US" altLang="ja-JP" sz="16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kumimoji="1" lang="en-US" altLang="ja-JP" sz="1600" i="1">
                                            <a:latin typeface="Cambria Math" panose="02040503050406030204" pitchFamily="18" charset="0"/>
                                          </a:rPr>
                                          <m:t>𝑢</m:t>
                                        </m:r>
                                      </m:e>
                                      <m:sub>
                                        <m:r>
                                          <a:rPr kumimoji="1" lang="en-US" altLang="ja-JP" sz="1600" i="1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sub>
                                    </m:sSub>
                                  </m:e>
                                </m:mr>
                                <m:mr>
                                  <m:e>
                                    <m:sSub>
                                      <m:sSubPr>
                                        <m:ctrlPr>
                                          <a:rPr kumimoji="1" lang="en-US" altLang="ja-JP" sz="16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kumimoji="1" lang="en-US" altLang="ja-JP" sz="1600" i="1">
                                            <a:latin typeface="Cambria Math" panose="02040503050406030204" pitchFamily="18" charset="0"/>
                                          </a:rPr>
                                          <m:t>𝑣</m:t>
                                        </m:r>
                                      </m:e>
                                      <m:sub>
                                        <m:r>
                                          <a:rPr kumimoji="1" lang="en-US" altLang="ja-JP" sz="1600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r>
                                      <a:rPr kumimoji="1" lang="en-US" altLang="ja-JP" sz="1600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kumimoji="1" lang="en-US" altLang="ja-JP" sz="16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kumimoji="1" lang="en-US" altLang="ja-JP" sz="1600" i="1">
                                            <a:latin typeface="Cambria Math" panose="02040503050406030204" pitchFamily="18" charset="0"/>
                                          </a:rPr>
                                          <m:t>𝑣</m:t>
                                        </m:r>
                                      </m:e>
                                      <m:sub>
                                        <m:r>
                                          <a:rPr kumimoji="1" lang="en-US" altLang="ja-JP" sz="1600" i="1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sub>
                                    </m:sSub>
                                  </m:e>
                                  <m:e>
                                    <m:sSub>
                                      <m:sSubPr>
                                        <m:ctrlPr>
                                          <a:rPr kumimoji="1" lang="en-US" altLang="ja-JP" sz="16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kumimoji="1" lang="en-US" altLang="ja-JP" sz="1600" i="1">
                                            <a:latin typeface="Cambria Math" panose="02040503050406030204" pitchFamily="18" charset="0"/>
                                          </a:rPr>
                                          <m:t>𝑣</m:t>
                                        </m:r>
                                      </m:e>
                                      <m:sub>
                                        <m:r>
                                          <a:rPr kumimoji="1" lang="en-US" altLang="ja-JP" sz="1600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  <m:r>
                                      <a:rPr kumimoji="1" lang="en-US" altLang="ja-JP" sz="1600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kumimoji="1" lang="en-US" altLang="ja-JP" sz="16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kumimoji="1" lang="en-US" altLang="ja-JP" sz="1600" i="1">
                                            <a:latin typeface="Cambria Math" panose="02040503050406030204" pitchFamily="18" charset="0"/>
                                          </a:rPr>
                                          <m:t>𝑣</m:t>
                                        </m:r>
                                      </m:e>
                                      <m:sub>
                                        <m:r>
                                          <a:rPr kumimoji="1" lang="en-US" altLang="ja-JP" sz="1600" i="1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sub>
                                    </m:sSub>
                                  </m:e>
                                </m:mr>
                              </m:m>
                            </m:e>
                          </m:d>
                        </m:e>
                        <m:sup>
                          <m:r>
                            <a:rPr kumimoji="1" lang="en-US" altLang="ja-JP" sz="1600" b="0" i="0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</m:oMath>
                  </m:oMathPara>
                </a14:m>
                <a:endParaRPr kumimoji="1" lang="en-US" altLang="ja-JP" sz="1600"/>
              </a:p>
              <a:p>
                <a:endParaRPr kumimoji="1" lang="ja-JP" altLang="en-US" sz="1600"/>
              </a:p>
            </p:txBody>
          </p:sp>
        </mc:Choice>
        <mc:Fallback xmlns="">
          <p:sp>
            <p:nvSpPr>
              <p:cNvPr id="8" name="テキスト ボックス 7">
                <a:extLst>
                  <a:ext uri="{FF2B5EF4-FFF2-40B4-BE49-F238E27FC236}">
                    <a16:creationId xmlns:a16="http://schemas.microsoft.com/office/drawing/2014/main" id="{A7C6C87D-204F-7876-A531-9686679968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47341" y="2224088"/>
                <a:ext cx="5544659" cy="452085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タイトル 26">
            <a:extLst>
              <a:ext uri="{FF2B5EF4-FFF2-40B4-BE49-F238E27FC236}">
                <a16:creationId xmlns:a16="http://schemas.microsoft.com/office/drawing/2014/main" id="{273256F5-73B1-43EE-7FF3-8DD2BD70CA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パッチ</a:t>
            </a:r>
          </a:p>
        </p:txBody>
      </p:sp>
      <p:sp>
        <p:nvSpPr>
          <p:cNvPr id="31" name="コンテンツ プレースホルダー 30">
            <a:extLst>
              <a:ext uri="{FF2B5EF4-FFF2-40B4-BE49-F238E27FC236}">
                <a16:creationId xmlns:a16="http://schemas.microsoft.com/office/drawing/2014/main" id="{5324C4A1-BBB2-32A1-56C3-679EB6F0CD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ja-JP" altLang="en-US" sz="2400"/>
              <a:t>物体表面を</a:t>
            </a:r>
            <a:r>
              <a:rPr lang="en-US" altLang="ja-JP" sz="2400"/>
              <a:t>2</a:t>
            </a:r>
            <a:r>
              <a:rPr lang="ja-JP" altLang="en-US" sz="2400"/>
              <a:t>次元でパラメタライズ</a:t>
            </a:r>
            <a:endParaRPr lang="en-US" altLang="ja-JP" sz="2400"/>
          </a:p>
          <a:p>
            <a:pPr lvl="1"/>
            <a:r>
              <a:rPr lang="ja-JP" altLang="en-US" sz="2000"/>
              <a:t>⇒ </a:t>
            </a:r>
            <a:r>
              <a:rPr lang="en-US" altLang="ja-JP" sz="2000"/>
              <a:t>UV</a:t>
            </a:r>
          </a:p>
          <a:p>
            <a:r>
              <a:rPr lang="ja-JP" altLang="en-US" sz="2400"/>
              <a:t>ピクセルに対応する</a:t>
            </a:r>
            <a:r>
              <a:rPr lang="en-US" altLang="ja-JP" sz="2400"/>
              <a:t>UV</a:t>
            </a:r>
            <a:r>
              <a:rPr lang="ja-JP" altLang="en-US" sz="2400"/>
              <a:t>の範囲がパッチ</a:t>
            </a:r>
            <a:endParaRPr lang="en-US" altLang="ja-JP" sz="2400"/>
          </a:p>
          <a:p>
            <a:r>
              <a:rPr lang="en-US" altLang="ja-JP" sz="2400"/>
              <a:t>uv</a:t>
            </a:r>
            <a:r>
              <a:rPr lang="ja-JP" altLang="en-US" sz="2400"/>
              <a:t>の変化率に対する位置の変化率が必要</a:t>
            </a:r>
            <a:endParaRPr lang="en-US" altLang="ja-JP" sz="2400"/>
          </a:p>
          <a:p>
            <a:endParaRPr lang="ja-JP" altLang="en-US" sz="2400"/>
          </a:p>
        </p:txBody>
      </p:sp>
      <p:cxnSp>
        <p:nvCxnSpPr>
          <p:cNvPr id="35" name="直線矢印コネクタ 34">
            <a:extLst>
              <a:ext uri="{FF2B5EF4-FFF2-40B4-BE49-F238E27FC236}">
                <a16:creationId xmlns:a16="http://schemas.microsoft.com/office/drawing/2014/main" id="{5498EE16-0E9F-F97D-8B5D-C8D6414A6A76}"/>
              </a:ext>
            </a:extLst>
          </p:cNvPr>
          <p:cNvCxnSpPr>
            <a:cxnSpLocks/>
          </p:cNvCxnSpPr>
          <p:nvPr/>
        </p:nvCxnSpPr>
        <p:spPr>
          <a:xfrm flipV="1">
            <a:off x="2241550" y="4648200"/>
            <a:ext cx="679450" cy="5778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テキスト ボックス 37">
                <a:extLst>
                  <a:ext uri="{FF2B5EF4-FFF2-40B4-BE49-F238E27FC236}">
                    <a16:creationId xmlns:a16="http://schemas.microsoft.com/office/drawing/2014/main" id="{34D64C78-0FB9-53AD-8948-42D8B9750120}"/>
                  </a:ext>
                </a:extLst>
              </p:cNvPr>
              <p:cNvSpPr txBox="1"/>
              <p:nvPr/>
            </p:nvSpPr>
            <p:spPr>
              <a:xfrm>
                <a:off x="2165464" y="4197518"/>
                <a:ext cx="504689" cy="6190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num>
                        <m:den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den>
                      </m:f>
                    </m:oMath>
                  </m:oMathPara>
                </a14:m>
                <a:endParaRPr kumimoji="1" lang="ja-JP" altLang="en-US"/>
              </a:p>
            </p:txBody>
          </p:sp>
        </mc:Choice>
        <mc:Fallback xmlns="">
          <p:sp>
            <p:nvSpPr>
              <p:cNvPr id="38" name="テキスト ボックス 37">
                <a:extLst>
                  <a:ext uri="{FF2B5EF4-FFF2-40B4-BE49-F238E27FC236}">
                    <a16:creationId xmlns:a16="http://schemas.microsoft.com/office/drawing/2014/main" id="{34D64C78-0FB9-53AD-8948-42D8B97501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65464" y="4197518"/>
                <a:ext cx="504689" cy="61901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3" name="直線コネクタ 42">
            <a:extLst>
              <a:ext uri="{FF2B5EF4-FFF2-40B4-BE49-F238E27FC236}">
                <a16:creationId xmlns:a16="http://schemas.microsoft.com/office/drawing/2014/main" id="{D7E394D6-F30B-0DCA-95B9-C27D4904AD51}"/>
              </a:ext>
            </a:extLst>
          </p:cNvPr>
          <p:cNvCxnSpPr>
            <a:cxnSpLocks/>
          </p:cNvCxnSpPr>
          <p:nvPr/>
        </p:nvCxnSpPr>
        <p:spPr>
          <a:xfrm>
            <a:off x="2172494" y="5264944"/>
            <a:ext cx="740569" cy="492125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線コネクタ 45">
            <a:extLst>
              <a:ext uri="{FF2B5EF4-FFF2-40B4-BE49-F238E27FC236}">
                <a16:creationId xmlns:a16="http://schemas.microsoft.com/office/drawing/2014/main" id="{3EBA83E1-446D-A3D4-BE17-6C32E6B4ED60}"/>
              </a:ext>
            </a:extLst>
          </p:cNvPr>
          <p:cNvCxnSpPr>
            <a:cxnSpLocks/>
          </p:cNvCxnSpPr>
          <p:nvPr/>
        </p:nvCxnSpPr>
        <p:spPr>
          <a:xfrm>
            <a:off x="2386806" y="5106988"/>
            <a:ext cx="539444" cy="646414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楕円 47">
            <a:extLst>
              <a:ext uri="{FF2B5EF4-FFF2-40B4-BE49-F238E27FC236}">
                <a16:creationId xmlns:a16="http://schemas.microsoft.com/office/drawing/2014/main" id="{3A2EB24E-9C15-4A87-D99D-BAD2333A8867}"/>
              </a:ext>
            </a:extLst>
          </p:cNvPr>
          <p:cNvSpPr/>
          <p:nvPr/>
        </p:nvSpPr>
        <p:spPr>
          <a:xfrm>
            <a:off x="2085341" y="5195443"/>
            <a:ext cx="180000" cy="180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0" name="楕円 49">
            <a:extLst>
              <a:ext uri="{FF2B5EF4-FFF2-40B4-BE49-F238E27FC236}">
                <a16:creationId xmlns:a16="http://schemas.microsoft.com/office/drawing/2014/main" id="{D6481A30-0929-FCA8-98DE-30E558D2379A}"/>
              </a:ext>
            </a:extLst>
          </p:cNvPr>
          <p:cNvSpPr/>
          <p:nvPr/>
        </p:nvSpPr>
        <p:spPr>
          <a:xfrm>
            <a:off x="2831000" y="5663136"/>
            <a:ext cx="180000" cy="180000"/>
          </a:xfrm>
          <a:prstGeom prst="ellipse">
            <a:avLst/>
          </a:prstGeom>
          <a:solidFill>
            <a:schemeClr val="accent6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5" name="テキスト ボックス 54">
            <a:extLst>
              <a:ext uri="{FF2B5EF4-FFF2-40B4-BE49-F238E27FC236}">
                <a16:creationId xmlns:a16="http://schemas.microsoft.com/office/drawing/2014/main" id="{7CC784C7-A8A3-944E-962E-CFD3632BD943}"/>
              </a:ext>
            </a:extLst>
          </p:cNvPr>
          <p:cNvSpPr txBox="1"/>
          <p:nvPr/>
        </p:nvSpPr>
        <p:spPr>
          <a:xfrm>
            <a:off x="2598935" y="5086550"/>
            <a:ext cx="33073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投影すれば</a:t>
            </a:r>
            <a:r>
              <a:rPr kumimoji="1" lang="en-US" altLang="ja-JP"/>
              <a:t>u</a:t>
            </a:r>
            <a:r>
              <a:rPr kumimoji="1" lang="ja-JP" altLang="en-US"/>
              <a:t>の変化量が分かる</a:t>
            </a:r>
          </a:p>
        </p:txBody>
      </p:sp>
    </p:spTree>
    <p:extLst>
      <p:ext uri="{BB962C8B-B14F-4D97-AF65-F5344CB8AC3E}">
        <p14:creationId xmlns:p14="http://schemas.microsoft.com/office/powerpoint/2010/main" val="38100997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C1536AE-8797-90CB-94AC-5D423FC0CF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パッチ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70689A9-C3A2-87CD-20DB-B51BC6D6EF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/>
              <a:t>隣接ピクセルにレイを飛ばしたときの平面との交点を計算</a:t>
            </a:r>
            <a:endParaRPr kumimoji="1" lang="en-US" altLang="ja-JP"/>
          </a:p>
          <a:p>
            <a:r>
              <a:rPr lang="en-US" altLang="ja-JP"/>
              <a:t>uv</a:t>
            </a:r>
            <a:r>
              <a:rPr lang="ja-JP" altLang="en-US"/>
              <a:t>空間での位置に変換</a:t>
            </a:r>
            <a:endParaRPr kumimoji="1" lang="en-US" altLang="ja-JP"/>
          </a:p>
          <a:p>
            <a:r>
              <a:rPr kumimoji="1" lang="ja-JP" altLang="en-US"/>
              <a:t>長軸を楕円の主軸として</a:t>
            </a:r>
            <a:r>
              <a:rPr lang="ja-JP" altLang="en-US"/>
              <a:t>副軸を求める</a:t>
            </a:r>
            <a:endParaRPr kumimoji="1" lang="ja-JP" altLang="en-US"/>
          </a:p>
        </p:txBody>
      </p:sp>
      <p:grpSp>
        <p:nvGrpSpPr>
          <p:cNvPr id="18" name="グループ化 17">
            <a:extLst>
              <a:ext uri="{FF2B5EF4-FFF2-40B4-BE49-F238E27FC236}">
                <a16:creationId xmlns:a16="http://schemas.microsoft.com/office/drawing/2014/main" id="{91DD75B9-DDC1-F180-17D3-CA0BBDDDC8DB}"/>
              </a:ext>
            </a:extLst>
          </p:cNvPr>
          <p:cNvGrpSpPr/>
          <p:nvPr/>
        </p:nvGrpSpPr>
        <p:grpSpPr>
          <a:xfrm>
            <a:off x="4883216" y="3762809"/>
            <a:ext cx="2425567" cy="2549091"/>
            <a:chOff x="1472665" y="2517808"/>
            <a:chExt cx="2425567" cy="2549091"/>
          </a:xfrm>
        </p:grpSpPr>
        <p:cxnSp>
          <p:nvCxnSpPr>
            <p:cNvPr id="5" name="直線矢印コネクタ 4">
              <a:extLst>
                <a:ext uri="{FF2B5EF4-FFF2-40B4-BE49-F238E27FC236}">
                  <a16:creationId xmlns:a16="http://schemas.microsoft.com/office/drawing/2014/main" id="{06B7E5FB-07E6-8869-489E-DAE20AD041E7}"/>
                </a:ext>
              </a:extLst>
            </p:cNvPr>
            <p:cNvCxnSpPr/>
            <p:nvPr/>
          </p:nvCxnSpPr>
          <p:spPr>
            <a:xfrm>
              <a:off x="1472665" y="3792354"/>
              <a:ext cx="2425567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直線矢印コネクタ 5">
              <a:extLst>
                <a:ext uri="{FF2B5EF4-FFF2-40B4-BE49-F238E27FC236}">
                  <a16:creationId xmlns:a16="http://schemas.microsoft.com/office/drawing/2014/main" id="{63304290-3EA0-BDF3-D458-8FE5ACBE400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35718" y="2517808"/>
              <a:ext cx="0" cy="254909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楕円 7">
              <a:extLst>
                <a:ext uri="{FF2B5EF4-FFF2-40B4-BE49-F238E27FC236}">
                  <a16:creationId xmlns:a16="http://schemas.microsoft.com/office/drawing/2014/main" id="{DED82560-620D-96FE-56EE-6819F14AF054}"/>
                </a:ext>
              </a:extLst>
            </p:cNvPr>
            <p:cNvSpPr/>
            <p:nvPr/>
          </p:nvSpPr>
          <p:spPr>
            <a:xfrm>
              <a:off x="2537059" y="3693694"/>
              <a:ext cx="197317" cy="197317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9" name="楕円 8">
              <a:extLst>
                <a:ext uri="{FF2B5EF4-FFF2-40B4-BE49-F238E27FC236}">
                  <a16:creationId xmlns:a16="http://schemas.microsoft.com/office/drawing/2014/main" id="{EC08F8CD-CFCF-010E-019A-D4F4C6467D38}"/>
                </a:ext>
              </a:extLst>
            </p:cNvPr>
            <p:cNvSpPr/>
            <p:nvPr/>
          </p:nvSpPr>
          <p:spPr>
            <a:xfrm>
              <a:off x="3118986" y="3693693"/>
              <a:ext cx="197317" cy="197317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0" name="楕円 9">
              <a:extLst>
                <a:ext uri="{FF2B5EF4-FFF2-40B4-BE49-F238E27FC236}">
                  <a16:creationId xmlns:a16="http://schemas.microsoft.com/office/drawing/2014/main" id="{D8B20ECD-5B49-DF3C-B5DE-0E2456677149}"/>
                </a:ext>
              </a:extLst>
            </p:cNvPr>
            <p:cNvSpPr/>
            <p:nvPr/>
          </p:nvSpPr>
          <p:spPr>
            <a:xfrm>
              <a:off x="2921669" y="2611672"/>
              <a:ext cx="197317" cy="197317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1" name="楕円 10">
              <a:extLst>
                <a:ext uri="{FF2B5EF4-FFF2-40B4-BE49-F238E27FC236}">
                  <a16:creationId xmlns:a16="http://schemas.microsoft.com/office/drawing/2014/main" id="{94BEB406-52F9-00AC-DD30-0885AFA2B1C7}"/>
                </a:ext>
              </a:extLst>
            </p:cNvPr>
            <p:cNvSpPr/>
            <p:nvPr/>
          </p:nvSpPr>
          <p:spPr>
            <a:xfrm>
              <a:off x="1955130" y="3693692"/>
              <a:ext cx="197317" cy="197317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cxnSp>
          <p:nvCxnSpPr>
            <p:cNvPr id="14" name="直線コネクタ 13">
              <a:extLst>
                <a:ext uri="{FF2B5EF4-FFF2-40B4-BE49-F238E27FC236}">
                  <a16:creationId xmlns:a16="http://schemas.microsoft.com/office/drawing/2014/main" id="{E4C55E6B-BFA0-B428-BE1F-576B40D0934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270125" y="2708275"/>
              <a:ext cx="742950" cy="215265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楕円 15">
              <a:extLst>
                <a:ext uri="{FF2B5EF4-FFF2-40B4-BE49-F238E27FC236}">
                  <a16:creationId xmlns:a16="http://schemas.microsoft.com/office/drawing/2014/main" id="{DBAF0F6F-7F5E-99A5-3819-30F80573DC30}"/>
                </a:ext>
              </a:extLst>
            </p:cNvPr>
            <p:cNvSpPr/>
            <p:nvPr/>
          </p:nvSpPr>
          <p:spPr>
            <a:xfrm>
              <a:off x="2155626" y="4747947"/>
              <a:ext cx="197317" cy="197317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7" name="正方形/長方形 16">
              <a:extLst>
                <a:ext uri="{FF2B5EF4-FFF2-40B4-BE49-F238E27FC236}">
                  <a16:creationId xmlns:a16="http://schemas.microsoft.com/office/drawing/2014/main" id="{D2EC1140-CF88-CF02-9384-C4C03803C984}"/>
                </a:ext>
              </a:extLst>
            </p:cNvPr>
            <p:cNvSpPr/>
            <p:nvPr/>
          </p:nvSpPr>
          <p:spPr>
            <a:xfrm rot="1153812">
              <a:off x="2076817" y="2659254"/>
              <a:ext cx="1113254" cy="2262701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0211902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96713DA-F735-E75E-8BDD-1E59223EEB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5CB5940-8902-8C2E-AF4F-F4E943B728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280418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3254BC6-F347-9F8B-7849-168685CF66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SDF </a:t>
            </a:r>
            <a:r>
              <a:rPr kumimoji="1" lang="ja-JP" altLang="en-US"/>
              <a:t>の正規化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コンテンツ プレースホルダー 2">
                <a:extLst>
                  <a:ext uri="{FF2B5EF4-FFF2-40B4-BE49-F238E27FC236}">
                    <a16:creationId xmlns:a16="http://schemas.microsoft.com/office/drawing/2014/main" id="{993E1325-8E31-1726-5C10-695EFF5A5CB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ja-JP" altLang="en-US"/>
                  <a:t>積分値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lang="ja-JP" altLang="en-US"/>
                  <a:t>で除算</a:t>
                </a:r>
                <a:endParaRPr lang="en-US" altLang="ja-JP"/>
              </a:p>
              <a:p>
                <a:pPr lvl="8"/>
                <a:endParaRPr lang="en-US" altLang="ja-JP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altLang="ja-JP" b="0" i="0" smtClean="0"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num>
                        <m:den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b>
                        <m:sSubPr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altLang="ja-JP" b="0" i="0" smtClean="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𝑥</m:t>
                      </m:r>
                      <m:nary>
                        <m:naryPr>
                          <m:chr m:val="∑"/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f>
                            <m:fPr>
                              <m:ctrlP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nary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altLang="ja-JP" b="0" i="0" smtClean="0"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num>
                        <m:den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b>
                        <m:sSubPr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ja-JP" b="0" i="0" smtClean="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𝑥</m:t>
                      </m:r>
                      <m:nary>
                        <m:naryPr>
                          <m:chr m:val="∑"/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sSub>
                            <m:sSubPr>
                              <m:ctrlP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  <m:oMath xmlns:m="http://schemas.openxmlformats.org/officeDocument/2006/math"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ja-JP" b="0" i="0" smtClean="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𝛼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</m:oMath>
                  </m:oMathPara>
                </a14:m>
                <a:endParaRPr lang="en-US" altLang="ja-JP"/>
              </a:p>
              <a:p>
                <a:pPr lvl="8"/>
                <a:endParaRPr lang="en-US" altLang="ja-JP"/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ja-JP" b="0" i="0" smtClean="0">
                        <a:latin typeface="Cambria Math" panose="02040503050406030204" pitchFamily="18" charset="0"/>
                      </a:rPr>
                      <m:t>Δ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ja-JP" altLang="en-US"/>
                  <a:t>は含めず</a:t>
                </a:r>
                <a:r>
                  <a:rPr lang="en-US" altLang="ja-JP"/>
                  <a:t>unorm</a:t>
                </a:r>
                <a:r>
                  <a:rPr lang="ja-JP" altLang="en-US"/>
                  <a:t>で保存し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ja-JP" b="0" i="0" smtClean="0">
                        <a:latin typeface="Cambria Math" panose="02040503050406030204" pitchFamily="18" charset="0"/>
                      </a:rPr>
                      <m:t>Δ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ja-JP" altLang="en-US"/>
                  <a:t>を後で除算</a:t>
                </a:r>
                <a:endParaRPr lang="en-US" altLang="ja-JP"/>
              </a:p>
              <a:p>
                <a:endParaRPr kumimoji="1" lang="en-US" altLang="ja-JP"/>
              </a:p>
              <a:p>
                <a:endParaRPr lang="en-US" altLang="ja-JP"/>
              </a:p>
              <a:p>
                <a:endParaRPr kumimoji="1" lang="en-US" altLang="ja-JP"/>
              </a:p>
              <a:p>
                <a:endParaRPr lang="en-US" altLang="ja-JP"/>
              </a:p>
              <a:p>
                <a:endParaRPr kumimoji="1" lang="ja-JP" altLang="en-US"/>
              </a:p>
            </p:txBody>
          </p:sp>
        </mc:Choice>
        <mc:Fallback>
          <p:sp>
            <p:nvSpPr>
              <p:cNvPr id="3" name="コンテンツ プレースホルダー 2">
                <a:extLst>
                  <a:ext uri="{FF2B5EF4-FFF2-40B4-BE49-F238E27FC236}">
                    <a16:creationId xmlns:a16="http://schemas.microsoft.com/office/drawing/2014/main" id="{993E1325-8E31-1726-5C10-695EFF5A5CB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表 3">
            <a:extLst>
              <a:ext uri="{FF2B5EF4-FFF2-40B4-BE49-F238E27FC236}">
                <a16:creationId xmlns:a16="http://schemas.microsoft.com/office/drawing/2014/main" id="{6E1DD2DD-A570-45E4-660F-1D3B86A441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2328233"/>
              </p:ext>
            </p:extLst>
          </p:nvPr>
        </p:nvGraphicFramePr>
        <p:xfrm>
          <a:off x="8098310" y="4545188"/>
          <a:ext cx="3672000" cy="36576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918000">
                  <a:extLst>
                    <a:ext uri="{9D8B030D-6E8A-4147-A177-3AD203B41FA5}">
                      <a16:colId xmlns:a16="http://schemas.microsoft.com/office/drawing/2014/main" val="2801293580"/>
                    </a:ext>
                  </a:extLst>
                </a:gridCol>
                <a:gridCol w="918000">
                  <a:extLst>
                    <a:ext uri="{9D8B030D-6E8A-4147-A177-3AD203B41FA5}">
                      <a16:colId xmlns:a16="http://schemas.microsoft.com/office/drawing/2014/main" val="1210503514"/>
                    </a:ext>
                  </a:extLst>
                </a:gridCol>
                <a:gridCol w="918000">
                  <a:extLst>
                    <a:ext uri="{9D8B030D-6E8A-4147-A177-3AD203B41FA5}">
                      <a16:colId xmlns:a16="http://schemas.microsoft.com/office/drawing/2014/main" val="1577042054"/>
                    </a:ext>
                  </a:extLst>
                </a:gridCol>
                <a:gridCol w="918000">
                  <a:extLst>
                    <a:ext uri="{9D8B030D-6E8A-4147-A177-3AD203B41FA5}">
                      <a16:colId xmlns:a16="http://schemas.microsoft.com/office/drawing/2014/main" val="1982503674"/>
                    </a:ext>
                  </a:extLst>
                </a:gridCol>
              </a:tblGrid>
              <a:tr h="324000"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5022225"/>
                  </a:ext>
                </a:extLst>
              </a:tr>
            </a:tbl>
          </a:graphicData>
        </a:graphic>
      </p:graphicFrame>
      <p:sp>
        <p:nvSpPr>
          <p:cNvPr id="5" name="楕円 4">
            <a:extLst>
              <a:ext uri="{FF2B5EF4-FFF2-40B4-BE49-F238E27FC236}">
                <a16:creationId xmlns:a16="http://schemas.microsoft.com/office/drawing/2014/main" id="{D23F369A-8C83-7527-4528-2456A92324F7}"/>
              </a:ext>
            </a:extLst>
          </p:cNvPr>
          <p:cNvSpPr/>
          <p:nvPr/>
        </p:nvSpPr>
        <p:spPr>
          <a:xfrm>
            <a:off x="8451128" y="4638068"/>
            <a:ext cx="180000" cy="180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楕円 5">
            <a:extLst>
              <a:ext uri="{FF2B5EF4-FFF2-40B4-BE49-F238E27FC236}">
                <a16:creationId xmlns:a16="http://schemas.microsoft.com/office/drawing/2014/main" id="{FA619AFD-5BF4-EE01-B773-756566F633F2}"/>
              </a:ext>
            </a:extLst>
          </p:cNvPr>
          <p:cNvSpPr/>
          <p:nvPr/>
        </p:nvSpPr>
        <p:spPr>
          <a:xfrm>
            <a:off x="9384676" y="4638068"/>
            <a:ext cx="180000" cy="180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楕円 6">
            <a:extLst>
              <a:ext uri="{FF2B5EF4-FFF2-40B4-BE49-F238E27FC236}">
                <a16:creationId xmlns:a16="http://schemas.microsoft.com/office/drawing/2014/main" id="{8F1C7F40-4C38-F6B3-9338-960468F72E9B}"/>
              </a:ext>
            </a:extLst>
          </p:cNvPr>
          <p:cNvSpPr/>
          <p:nvPr/>
        </p:nvSpPr>
        <p:spPr>
          <a:xfrm>
            <a:off x="10287932" y="4638068"/>
            <a:ext cx="180000" cy="180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楕円 7">
            <a:extLst>
              <a:ext uri="{FF2B5EF4-FFF2-40B4-BE49-F238E27FC236}">
                <a16:creationId xmlns:a16="http://schemas.microsoft.com/office/drawing/2014/main" id="{B93C6F85-D125-E0AD-7D88-17361142D293}"/>
              </a:ext>
            </a:extLst>
          </p:cNvPr>
          <p:cNvSpPr/>
          <p:nvPr/>
        </p:nvSpPr>
        <p:spPr>
          <a:xfrm>
            <a:off x="11221480" y="4638068"/>
            <a:ext cx="180000" cy="180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9" name="直線コネクタ 8">
            <a:extLst>
              <a:ext uri="{FF2B5EF4-FFF2-40B4-BE49-F238E27FC236}">
                <a16:creationId xmlns:a16="http://schemas.microsoft.com/office/drawing/2014/main" id="{C5050915-3630-E2A5-7ADF-DE18615DB75E}"/>
              </a:ext>
            </a:extLst>
          </p:cNvPr>
          <p:cNvCxnSpPr/>
          <p:nvPr/>
        </p:nvCxnSpPr>
        <p:spPr>
          <a:xfrm flipV="1">
            <a:off x="8098310" y="4545188"/>
            <a:ext cx="0" cy="14579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コネクタ 9">
            <a:extLst>
              <a:ext uri="{FF2B5EF4-FFF2-40B4-BE49-F238E27FC236}">
                <a16:creationId xmlns:a16="http://schemas.microsoft.com/office/drawing/2014/main" id="{9D823FEC-3706-4E35-15BD-167C35D2DF64}"/>
              </a:ext>
            </a:extLst>
          </p:cNvPr>
          <p:cNvCxnSpPr/>
          <p:nvPr/>
        </p:nvCxnSpPr>
        <p:spPr>
          <a:xfrm flipV="1">
            <a:off x="8541128" y="4545188"/>
            <a:ext cx="0" cy="14579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コネクタ 10">
            <a:extLst>
              <a:ext uri="{FF2B5EF4-FFF2-40B4-BE49-F238E27FC236}">
                <a16:creationId xmlns:a16="http://schemas.microsoft.com/office/drawing/2014/main" id="{CB69AA8A-F76E-19B7-F52A-62688531C995}"/>
              </a:ext>
            </a:extLst>
          </p:cNvPr>
          <p:cNvCxnSpPr/>
          <p:nvPr/>
        </p:nvCxnSpPr>
        <p:spPr>
          <a:xfrm flipV="1">
            <a:off x="9463738" y="4545188"/>
            <a:ext cx="0" cy="14579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コネクタ 11">
            <a:extLst>
              <a:ext uri="{FF2B5EF4-FFF2-40B4-BE49-F238E27FC236}">
                <a16:creationId xmlns:a16="http://schemas.microsoft.com/office/drawing/2014/main" id="{918E08DB-4E50-6936-FDD3-351FFB15DDD1}"/>
              </a:ext>
            </a:extLst>
          </p:cNvPr>
          <p:cNvCxnSpPr/>
          <p:nvPr/>
        </p:nvCxnSpPr>
        <p:spPr>
          <a:xfrm flipV="1">
            <a:off x="10377932" y="4545188"/>
            <a:ext cx="0" cy="14579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コネクタ 12">
            <a:extLst>
              <a:ext uri="{FF2B5EF4-FFF2-40B4-BE49-F238E27FC236}">
                <a16:creationId xmlns:a16="http://schemas.microsoft.com/office/drawing/2014/main" id="{52F6C60D-C359-0ED8-CA78-EB984691792C}"/>
              </a:ext>
            </a:extLst>
          </p:cNvPr>
          <p:cNvCxnSpPr/>
          <p:nvPr/>
        </p:nvCxnSpPr>
        <p:spPr>
          <a:xfrm flipV="1">
            <a:off x="11311480" y="4545188"/>
            <a:ext cx="0" cy="14579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コネクタ 13">
            <a:extLst>
              <a:ext uri="{FF2B5EF4-FFF2-40B4-BE49-F238E27FC236}">
                <a16:creationId xmlns:a16="http://schemas.microsoft.com/office/drawing/2014/main" id="{D5940EF9-529D-462E-75C3-0DA1584A0883}"/>
              </a:ext>
            </a:extLst>
          </p:cNvPr>
          <p:cNvCxnSpPr/>
          <p:nvPr/>
        </p:nvCxnSpPr>
        <p:spPr>
          <a:xfrm flipV="1">
            <a:off x="11770310" y="4545188"/>
            <a:ext cx="0" cy="14579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矢印コネクタ 14">
            <a:extLst>
              <a:ext uri="{FF2B5EF4-FFF2-40B4-BE49-F238E27FC236}">
                <a16:creationId xmlns:a16="http://schemas.microsoft.com/office/drawing/2014/main" id="{22174F37-FE31-EB71-A426-2F193BE7B435}"/>
              </a:ext>
            </a:extLst>
          </p:cNvPr>
          <p:cNvCxnSpPr>
            <a:cxnSpLocks/>
          </p:cNvCxnSpPr>
          <p:nvPr/>
        </p:nvCxnSpPr>
        <p:spPr>
          <a:xfrm>
            <a:off x="8541128" y="5561188"/>
            <a:ext cx="922610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矢印コネクタ 15">
            <a:extLst>
              <a:ext uri="{FF2B5EF4-FFF2-40B4-BE49-F238E27FC236}">
                <a16:creationId xmlns:a16="http://schemas.microsoft.com/office/drawing/2014/main" id="{5FD670D4-1FB4-8201-71D9-8173AED2B712}"/>
              </a:ext>
            </a:extLst>
          </p:cNvPr>
          <p:cNvCxnSpPr>
            <a:cxnSpLocks/>
          </p:cNvCxnSpPr>
          <p:nvPr/>
        </p:nvCxnSpPr>
        <p:spPr>
          <a:xfrm>
            <a:off x="9474676" y="5561188"/>
            <a:ext cx="903256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矢印コネクタ 16">
            <a:extLst>
              <a:ext uri="{FF2B5EF4-FFF2-40B4-BE49-F238E27FC236}">
                <a16:creationId xmlns:a16="http://schemas.microsoft.com/office/drawing/2014/main" id="{C134763A-ED88-F781-F5A0-D4F99EA40A93}"/>
              </a:ext>
            </a:extLst>
          </p:cNvPr>
          <p:cNvCxnSpPr>
            <a:cxnSpLocks/>
          </p:cNvCxnSpPr>
          <p:nvPr/>
        </p:nvCxnSpPr>
        <p:spPr>
          <a:xfrm>
            <a:off x="10377932" y="5562881"/>
            <a:ext cx="933548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矢印コネクタ 17">
            <a:extLst>
              <a:ext uri="{FF2B5EF4-FFF2-40B4-BE49-F238E27FC236}">
                <a16:creationId xmlns:a16="http://schemas.microsoft.com/office/drawing/2014/main" id="{A39B7641-2A89-4359-800A-D0E06F8B8B75}"/>
              </a:ext>
            </a:extLst>
          </p:cNvPr>
          <p:cNvCxnSpPr>
            <a:cxnSpLocks/>
          </p:cNvCxnSpPr>
          <p:nvPr/>
        </p:nvCxnSpPr>
        <p:spPr>
          <a:xfrm>
            <a:off x="11311480" y="5561188"/>
            <a:ext cx="458830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矢印コネクタ 18">
            <a:extLst>
              <a:ext uri="{FF2B5EF4-FFF2-40B4-BE49-F238E27FC236}">
                <a16:creationId xmlns:a16="http://schemas.microsoft.com/office/drawing/2014/main" id="{B7137E33-CF2A-2E5A-9B1C-7B4D324CEBC3}"/>
              </a:ext>
            </a:extLst>
          </p:cNvPr>
          <p:cNvCxnSpPr>
            <a:cxnSpLocks/>
          </p:cNvCxnSpPr>
          <p:nvPr/>
        </p:nvCxnSpPr>
        <p:spPr>
          <a:xfrm>
            <a:off x="8082298" y="5561188"/>
            <a:ext cx="458830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665464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4853CF9-0C48-86E2-6AA5-722E3F8E1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重点的サンプリング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コンテンツ プレースホルダー 2">
                <a:extLst>
                  <a:ext uri="{FF2B5EF4-FFF2-40B4-BE49-F238E27FC236}">
                    <a16:creationId xmlns:a16="http://schemas.microsoft.com/office/drawing/2014/main" id="{810751A4-F67C-03E1-C6F4-111881BA70B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7627164" cy="4351338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kumimoji="1" lang="en-US" altLang="ja-JP" sz="2400"/>
                  <a:t>SDF</a:t>
                </a:r>
                <a:r>
                  <a:rPr kumimoji="1" lang="ja-JP" altLang="en-US" sz="2400"/>
                  <a:t>テーブルはバイリニア補間</a:t>
                </a:r>
                <a:r>
                  <a:rPr lang="ja-JP" altLang="en-US" sz="2400"/>
                  <a:t>（端はクランプ）</a:t>
                </a:r>
                <a:endParaRPr lang="en-US" altLang="ja-JP" sz="2400"/>
              </a:p>
              <a:p>
                <a:r>
                  <a:rPr kumimoji="1" lang="ja-JP" altLang="en-US" sz="2400"/>
                  <a:t>区間をサンプリング⇒区間内をサンプリング</a:t>
                </a:r>
                <a:endParaRPr kumimoji="1" lang="en-US" altLang="ja-JP" sz="2400"/>
              </a:p>
              <a:p>
                <a:pPr lvl="1"/>
                <a:r>
                  <a:rPr lang="ja-JP" altLang="en-US" sz="2000"/>
                  <a:t>区間数はテーブル解像度＋１</a:t>
                </a:r>
                <a:endParaRPr kumimoji="1" lang="en-US" altLang="ja-JP" sz="2000"/>
              </a:p>
              <a:p>
                <a:r>
                  <a:rPr lang="ja-JP" altLang="en-US" sz="2400"/>
                  <a:t>各区間の重みは積分値 </a:t>
                </a:r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ja-JP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altLang="ja-JP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num>
                      <m:den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ctrlP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e>
                    </m:d>
                  </m:oMath>
                </a14:m>
                <a:endParaRPr lang="en-US" altLang="ja-JP" sz="2400" i="1"/>
              </a:p>
              <a:p>
                <a:pPr lvl="1"/>
                <a:r>
                  <a:rPr lang="ja-JP" altLang="en-US" sz="2000"/>
                  <a:t>区間端は区間幅が半分なのに注意</a:t>
                </a:r>
                <a:endParaRPr lang="en-US" altLang="ja-JP" sz="2000"/>
              </a:p>
              <a:p>
                <a:r>
                  <a:rPr lang="ja-JP" altLang="en-US" sz="2400"/>
                  <a:t>区間内のサンプリング</a:t>
                </a:r>
                <a:endParaRPr lang="en-US" altLang="ja-JP" sz="2400"/>
              </a:p>
              <a:p>
                <a:endParaRPr lang="en-US" altLang="ja-JP" sz="240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sz="24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altLang="ja-JP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ja-JP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ja-JP" sz="2400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  <m:r>
                            <a:rPr lang="en-US" altLang="ja-JP" sz="2400" i="1">
                              <a:latin typeface="Cambria Math" panose="02040503050406030204" pitchFamily="18" charset="0"/>
                            </a:rPr>
                            <m:t>+</m:t>
                          </m:r>
                          <m:rad>
                            <m:radPr>
                              <m:degHide m:val="on"/>
                              <m:ctrlP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bSup>
                                <m:sSubSupPr>
                                  <m:ctrlPr>
                                    <a:rPr lang="en-US" altLang="ja-JP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ja-JP" sz="24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altLang="ja-JP" sz="2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altLang="ja-JP" sz="2400" i="1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b>
                                <m:sup>
                                  <m:r>
                                    <a:rPr lang="en-US" altLang="ja-JP" sz="2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altLang="ja-JP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Sup>
                                    <m:sSubSupPr>
                                      <m:ctrlPr>
                                        <a:rPr lang="en-US" altLang="ja-JP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ja-JP" sz="2400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altLang="ja-JP" sz="24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  <m:sup>
                                      <m:r>
                                        <a:rPr lang="en-US" altLang="ja-JP" sz="24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  <m:r>
                                    <a:rPr lang="en-US" altLang="ja-JP" sz="24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Sup>
                                    <m:sSubSupPr>
                                      <m:ctrlPr>
                                        <a:rPr lang="en-US" altLang="ja-JP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ja-JP" sz="2400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altLang="ja-JP" sz="24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altLang="ja-JP" sz="2400" i="1">
                                          <a:latin typeface="Cambria Math" panose="02040503050406030204" pitchFamily="18" charset="0"/>
                                        </a:rPr>
                                        <m:t>−1</m:t>
                                      </m:r>
                                    </m:sub>
                                    <m:sup>
                                      <m:r>
                                        <a:rPr lang="en-US" altLang="ja-JP" sz="24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</m:num>
                                <m:den>
                                  <m:r>
                                    <a:rPr lang="en-US" altLang="ja-JP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</m:rad>
                        </m:num>
                        <m:den>
                          <m:sSub>
                            <m:sSubPr>
                              <m:ctrlP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ja-JP" sz="2400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den>
                      </m:f>
                    </m:oMath>
                    <m:oMath xmlns:m="http://schemas.openxmlformats.org/officeDocument/2006/math">
                      <m:r>
                        <a:rPr lang="en-US" altLang="ja-JP" sz="2400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  <m:oMath xmlns:m="http://schemas.openxmlformats.org/officeDocument/2006/math">
                      <m:sSub>
                        <m:sSubPr>
                          <m:ctrlPr>
                            <a:rPr lang="en-US" altLang="ja-JP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ja-JP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ja-JP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ja-JP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ja-JP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ja-JP" sz="24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ja-JP" altLang="en-US" sz="2400" i="1">
                          <a:latin typeface="Cambria Math" panose="02040503050406030204" pitchFamily="18" charset="0"/>
                        </a:rPr>
                        <m:t>のとき</m:t>
                      </m:r>
                      <m:r>
                        <a:rPr lang="ja-JP" altLang="en-US" sz="2400" i="1" smtClean="0">
                          <a:latin typeface="Cambria Math" panose="02040503050406030204" pitchFamily="18" charset="0"/>
                        </a:rPr>
                        <m:t>　</m:t>
                      </m:r>
                      <m:r>
                        <a:rPr lang="en-US" altLang="ja-JP" sz="24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altLang="ja-JP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ja-JP" sz="2400" b="0" i="1" smtClean="0">
                          <a:latin typeface="Cambria Math" panose="02040503050406030204" pitchFamily="18" charset="0"/>
                        </a:rPr>
                        <m:t>𝑢</m:t>
                      </m:r>
                    </m:oMath>
                  </m:oMathPara>
                </a14:m>
                <a:endParaRPr lang="en-US" altLang="ja-JP" sz="2400"/>
              </a:p>
              <a:p>
                <a:endParaRPr lang="en-US" altLang="ja-JP" sz="2400"/>
              </a:p>
              <a:p>
                <a:endParaRPr lang="en-US" altLang="ja-JP" sz="2400"/>
              </a:p>
              <a:p>
                <a:endParaRPr kumimoji="1" lang="en-US" altLang="ja-JP" sz="2400"/>
              </a:p>
              <a:p>
                <a:endParaRPr lang="en-US" altLang="ja-JP" sz="2400"/>
              </a:p>
              <a:p>
                <a:endParaRPr kumimoji="1" lang="en-US" altLang="ja-JP" sz="2400"/>
              </a:p>
              <a:p>
                <a:endParaRPr lang="en-US" altLang="ja-JP" sz="2400"/>
              </a:p>
              <a:p>
                <a:endParaRPr kumimoji="1" lang="en-US" altLang="ja-JP" sz="2400"/>
              </a:p>
              <a:p>
                <a:endParaRPr lang="en-US" altLang="ja-JP" sz="2400"/>
              </a:p>
              <a:p>
                <a:endParaRPr kumimoji="1" lang="ja-JP" altLang="en-US" sz="2400"/>
              </a:p>
            </p:txBody>
          </p:sp>
        </mc:Choice>
        <mc:Fallback xmlns="">
          <p:sp>
            <p:nvSpPr>
              <p:cNvPr id="3" name="コンテンツ プレースホルダー 2">
                <a:extLst>
                  <a:ext uri="{FF2B5EF4-FFF2-40B4-BE49-F238E27FC236}">
                    <a16:creationId xmlns:a16="http://schemas.microsoft.com/office/drawing/2014/main" id="{810751A4-F67C-03E1-C6F4-111881BA70B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7627164" cy="4351338"/>
              </a:xfrm>
              <a:blipFill>
                <a:blip r:embed="rId2"/>
                <a:stretch>
                  <a:fillRect l="-959" t="-2241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表 3">
            <a:extLst>
              <a:ext uri="{FF2B5EF4-FFF2-40B4-BE49-F238E27FC236}">
                <a16:creationId xmlns:a16="http://schemas.microsoft.com/office/drawing/2014/main" id="{FD2CB336-A6CF-E5CF-09A3-7BEFE184F6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0948015"/>
              </p:ext>
            </p:extLst>
          </p:nvPr>
        </p:nvGraphicFramePr>
        <p:xfrm>
          <a:off x="7956908" y="3781617"/>
          <a:ext cx="3672000" cy="36576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918000">
                  <a:extLst>
                    <a:ext uri="{9D8B030D-6E8A-4147-A177-3AD203B41FA5}">
                      <a16:colId xmlns:a16="http://schemas.microsoft.com/office/drawing/2014/main" val="2801293580"/>
                    </a:ext>
                  </a:extLst>
                </a:gridCol>
                <a:gridCol w="918000">
                  <a:extLst>
                    <a:ext uri="{9D8B030D-6E8A-4147-A177-3AD203B41FA5}">
                      <a16:colId xmlns:a16="http://schemas.microsoft.com/office/drawing/2014/main" val="1210503514"/>
                    </a:ext>
                  </a:extLst>
                </a:gridCol>
                <a:gridCol w="918000">
                  <a:extLst>
                    <a:ext uri="{9D8B030D-6E8A-4147-A177-3AD203B41FA5}">
                      <a16:colId xmlns:a16="http://schemas.microsoft.com/office/drawing/2014/main" val="1577042054"/>
                    </a:ext>
                  </a:extLst>
                </a:gridCol>
                <a:gridCol w="918000">
                  <a:extLst>
                    <a:ext uri="{9D8B030D-6E8A-4147-A177-3AD203B41FA5}">
                      <a16:colId xmlns:a16="http://schemas.microsoft.com/office/drawing/2014/main" val="1982503674"/>
                    </a:ext>
                  </a:extLst>
                </a:gridCol>
              </a:tblGrid>
              <a:tr h="324000"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5022225"/>
                  </a:ext>
                </a:extLst>
              </a:tr>
            </a:tbl>
          </a:graphicData>
        </a:graphic>
      </p:graphicFrame>
      <p:sp>
        <p:nvSpPr>
          <p:cNvPr id="5" name="楕円 4">
            <a:extLst>
              <a:ext uri="{FF2B5EF4-FFF2-40B4-BE49-F238E27FC236}">
                <a16:creationId xmlns:a16="http://schemas.microsoft.com/office/drawing/2014/main" id="{A5929EB4-1F14-D2CC-3FB5-46197521DA25}"/>
              </a:ext>
            </a:extLst>
          </p:cNvPr>
          <p:cNvSpPr/>
          <p:nvPr/>
        </p:nvSpPr>
        <p:spPr>
          <a:xfrm>
            <a:off x="8309726" y="3874497"/>
            <a:ext cx="180000" cy="180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楕円 5">
            <a:extLst>
              <a:ext uri="{FF2B5EF4-FFF2-40B4-BE49-F238E27FC236}">
                <a16:creationId xmlns:a16="http://schemas.microsoft.com/office/drawing/2014/main" id="{18D96C72-1A2C-1BAD-F284-70B427DB6037}"/>
              </a:ext>
            </a:extLst>
          </p:cNvPr>
          <p:cNvSpPr/>
          <p:nvPr/>
        </p:nvSpPr>
        <p:spPr>
          <a:xfrm>
            <a:off x="9243274" y="3874497"/>
            <a:ext cx="180000" cy="180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楕円 6">
            <a:extLst>
              <a:ext uri="{FF2B5EF4-FFF2-40B4-BE49-F238E27FC236}">
                <a16:creationId xmlns:a16="http://schemas.microsoft.com/office/drawing/2014/main" id="{3102EEBC-C855-7855-F8F8-D35AAC92144C}"/>
              </a:ext>
            </a:extLst>
          </p:cNvPr>
          <p:cNvSpPr/>
          <p:nvPr/>
        </p:nvSpPr>
        <p:spPr>
          <a:xfrm>
            <a:off x="10146530" y="3874497"/>
            <a:ext cx="180000" cy="180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楕円 7">
            <a:extLst>
              <a:ext uri="{FF2B5EF4-FFF2-40B4-BE49-F238E27FC236}">
                <a16:creationId xmlns:a16="http://schemas.microsoft.com/office/drawing/2014/main" id="{5AAFD235-9D97-AA5E-A9B5-41F14B2ECBAB}"/>
              </a:ext>
            </a:extLst>
          </p:cNvPr>
          <p:cNvSpPr/>
          <p:nvPr/>
        </p:nvSpPr>
        <p:spPr>
          <a:xfrm>
            <a:off x="11080078" y="3874497"/>
            <a:ext cx="180000" cy="180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6" name="直線コネクタ 15">
            <a:extLst>
              <a:ext uri="{FF2B5EF4-FFF2-40B4-BE49-F238E27FC236}">
                <a16:creationId xmlns:a16="http://schemas.microsoft.com/office/drawing/2014/main" id="{16745A10-8B98-ABCB-A1BC-590660E7161A}"/>
              </a:ext>
            </a:extLst>
          </p:cNvPr>
          <p:cNvCxnSpPr/>
          <p:nvPr/>
        </p:nvCxnSpPr>
        <p:spPr>
          <a:xfrm flipV="1">
            <a:off x="7956908" y="3781617"/>
            <a:ext cx="0" cy="14579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コネクタ 16">
            <a:extLst>
              <a:ext uri="{FF2B5EF4-FFF2-40B4-BE49-F238E27FC236}">
                <a16:creationId xmlns:a16="http://schemas.microsoft.com/office/drawing/2014/main" id="{B0E4155C-7733-0D59-AB34-2E7FF4058E5C}"/>
              </a:ext>
            </a:extLst>
          </p:cNvPr>
          <p:cNvCxnSpPr/>
          <p:nvPr/>
        </p:nvCxnSpPr>
        <p:spPr>
          <a:xfrm flipV="1">
            <a:off x="8399726" y="3781617"/>
            <a:ext cx="0" cy="14579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コネクタ 17">
            <a:extLst>
              <a:ext uri="{FF2B5EF4-FFF2-40B4-BE49-F238E27FC236}">
                <a16:creationId xmlns:a16="http://schemas.microsoft.com/office/drawing/2014/main" id="{D90DE522-1A3F-780C-F765-D5F6C75BFF23}"/>
              </a:ext>
            </a:extLst>
          </p:cNvPr>
          <p:cNvCxnSpPr/>
          <p:nvPr/>
        </p:nvCxnSpPr>
        <p:spPr>
          <a:xfrm flipV="1">
            <a:off x="9322336" y="3781617"/>
            <a:ext cx="0" cy="14579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コネクタ 18">
            <a:extLst>
              <a:ext uri="{FF2B5EF4-FFF2-40B4-BE49-F238E27FC236}">
                <a16:creationId xmlns:a16="http://schemas.microsoft.com/office/drawing/2014/main" id="{62C3DE64-8EA4-6B84-F615-1A3EBCB4E24A}"/>
              </a:ext>
            </a:extLst>
          </p:cNvPr>
          <p:cNvCxnSpPr/>
          <p:nvPr/>
        </p:nvCxnSpPr>
        <p:spPr>
          <a:xfrm flipV="1">
            <a:off x="10236530" y="3781617"/>
            <a:ext cx="0" cy="14579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コネクタ 19">
            <a:extLst>
              <a:ext uri="{FF2B5EF4-FFF2-40B4-BE49-F238E27FC236}">
                <a16:creationId xmlns:a16="http://schemas.microsoft.com/office/drawing/2014/main" id="{E8561267-B921-3AA0-A54E-0B49412E1F3F}"/>
              </a:ext>
            </a:extLst>
          </p:cNvPr>
          <p:cNvCxnSpPr/>
          <p:nvPr/>
        </p:nvCxnSpPr>
        <p:spPr>
          <a:xfrm flipV="1">
            <a:off x="11170078" y="3781617"/>
            <a:ext cx="0" cy="14579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コネクタ 20">
            <a:extLst>
              <a:ext uri="{FF2B5EF4-FFF2-40B4-BE49-F238E27FC236}">
                <a16:creationId xmlns:a16="http://schemas.microsoft.com/office/drawing/2014/main" id="{882FC2C4-F36A-4DB9-3419-67D6ABB43486}"/>
              </a:ext>
            </a:extLst>
          </p:cNvPr>
          <p:cNvCxnSpPr/>
          <p:nvPr/>
        </p:nvCxnSpPr>
        <p:spPr>
          <a:xfrm flipV="1">
            <a:off x="11628908" y="3781617"/>
            <a:ext cx="0" cy="14579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矢印コネクタ 22">
            <a:extLst>
              <a:ext uri="{FF2B5EF4-FFF2-40B4-BE49-F238E27FC236}">
                <a16:creationId xmlns:a16="http://schemas.microsoft.com/office/drawing/2014/main" id="{B70E9249-D5EC-DEB7-881C-11AE2F780FDC}"/>
              </a:ext>
            </a:extLst>
          </p:cNvPr>
          <p:cNvCxnSpPr>
            <a:cxnSpLocks/>
          </p:cNvCxnSpPr>
          <p:nvPr/>
        </p:nvCxnSpPr>
        <p:spPr>
          <a:xfrm>
            <a:off x="8399726" y="4797617"/>
            <a:ext cx="922610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線矢印コネクタ 24">
            <a:extLst>
              <a:ext uri="{FF2B5EF4-FFF2-40B4-BE49-F238E27FC236}">
                <a16:creationId xmlns:a16="http://schemas.microsoft.com/office/drawing/2014/main" id="{F8E5BABC-0CF7-E0D8-0C7D-FC711DFA5CEB}"/>
              </a:ext>
            </a:extLst>
          </p:cNvPr>
          <p:cNvCxnSpPr>
            <a:cxnSpLocks/>
          </p:cNvCxnSpPr>
          <p:nvPr/>
        </p:nvCxnSpPr>
        <p:spPr>
          <a:xfrm>
            <a:off x="9333274" y="4797617"/>
            <a:ext cx="903256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矢印コネクタ 26">
            <a:extLst>
              <a:ext uri="{FF2B5EF4-FFF2-40B4-BE49-F238E27FC236}">
                <a16:creationId xmlns:a16="http://schemas.microsoft.com/office/drawing/2014/main" id="{C38E05A7-D75B-D99E-6124-5DC86E440CE6}"/>
              </a:ext>
            </a:extLst>
          </p:cNvPr>
          <p:cNvCxnSpPr>
            <a:cxnSpLocks/>
          </p:cNvCxnSpPr>
          <p:nvPr/>
        </p:nvCxnSpPr>
        <p:spPr>
          <a:xfrm>
            <a:off x="10236530" y="4799310"/>
            <a:ext cx="933548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線矢印コネクタ 28">
            <a:extLst>
              <a:ext uri="{FF2B5EF4-FFF2-40B4-BE49-F238E27FC236}">
                <a16:creationId xmlns:a16="http://schemas.microsoft.com/office/drawing/2014/main" id="{31A4EBE0-A62A-B00F-710A-58293AC389CA}"/>
              </a:ext>
            </a:extLst>
          </p:cNvPr>
          <p:cNvCxnSpPr>
            <a:cxnSpLocks/>
          </p:cNvCxnSpPr>
          <p:nvPr/>
        </p:nvCxnSpPr>
        <p:spPr>
          <a:xfrm>
            <a:off x="11170078" y="4797617"/>
            <a:ext cx="458830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線矢印コネクタ 30">
            <a:extLst>
              <a:ext uri="{FF2B5EF4-FFF2-40B4-BE49-F238E27FC236}">
                <a16:creationId xmlns:a16="http://schemas.microsoft.com/office/drawing/2014/main" id="{4996068C-22D9-6677-5709-BF4A5D1FB978}"/>
              </a:ext>
            </a:extLst>
          </p:cNvPr>
          <p:cNvCxnSpPr>
            <a:cxnSpLocks/>
          </p:cNvCxnSpPr>
          <p:nvPr/>
        </p:nvCxnSpPr>
        <p:spPr>
          <a:xfrm>
            <a:off x="7940896" y="4797617"/>
            <a:ext cx="458830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051457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コンテンツ プレースホルダー 2">
                <a:extLst>
                  <a:ext uri="{FF2B5EF4-FFF2-40B4-BE49-F238E27FC236}">
                    <a16:creationId xmlns:a16="http://schemas.microsoft.com/office/drawing/2014/main" id="{BACD03EA-442E-B495-73A0-230EB26C917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753533"/>
                <a:ext cx="10515600" cy="5423430"/>
              </a:xfrm>
            </p:spPr>
            <p:txBody>
              <a:bodyPr>
                <a:normAutofit fontScale="77500" lnSpcReduction="20000"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altLang="ja-JP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sSub>
                        <m:sSubPr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US" altLang="ja-JP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ja-JP" i="1">
                          <a:latin typeface="Cambria Math" panose="02040503050406030204" pitchFamily="18" charset="0"/>
                        </a:rPr>
                        <m:t>𝑡</m:t>
                      </m:r>
                      <m:sSub>
                        <m:sSubPr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ja-JP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US" altLang="ja-JP" i="1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e>
                      </m:d>
                      <m:r>
                        <a:rPr lang="en-US" altLang="ja-JP" i="1">
                          <a:latin typeface="Cambria Math" panose="02040503050406030204" pitchFamily="18" charset="0"/>
                        </a:rPr>
                        <m:t>𝑡</m:t>
                      </m:r>
                    </m:oMath>
                    <m:oMath xmlns:m="http://schemas.openxmlformats.org/officeDocument/2006/math">
                      <m:r>
                        <a:rPr lang="en-US" altLang="ja-JP" i="1">
                          <a:latin typeface="Cambria Math" panose="02040503050406030204" pitchFamily="18" charset="0"/>
                        </a:rPr>
                        <m:t> </m:t>
                      </m:r>
                    </m:oMath>
                    <m:oMath xmlns:m="http://schemas.openxmlformats.org/officeDocument/2006/math">
                      <m:r>
                        <a:rPr lang="en-US" altLang="ja-JP" i="1">
                          <a:latin typeface="Cambria Math" panose="02040503050406030204" pitchFamily="18" charset="0"/>
                        </a:rPr>
                        <m:t>𝑍</m:t>
                      </m:r>
                      <m:r>
                        <a:rPr lang="en-US" altLang="ja-JP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  <m:e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𝑑𝑡</m:t>
                          </m:r>
                        </m:e>
                      </m:nary>
                      <m:r>
                        <a:rPr lang="en-US" altLang="ja-JP" i="1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b>
                              </m:sSub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altLang="ja-JP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ja-JP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altLang="ja-JP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altLang="ja-JP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ja-JP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altLang="ja-JP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altLang="ja-JP" i="1">
                                          <a:latin typeface="Cambria Math" panose="02040503050406030204" pitchFamily="18" charset="0"/>
                                        </a:rPr>
                                        <m:t>−1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sSup>
                                <m:sSupPr>
                                  <m:ctrlP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p>
                                  <m: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d>
                        </m:e>
                        <m:sub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  <m:r>
                        <a:rPr lang="en-US" altLang="ja-JP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num>
                        <m:den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  <m:oMath xmlns:m="http://schemas.openxmlformats.org/officeDocument/2006/math">
                      <m:r>
                        <a:rPr lang="en-US" altLang="ja-JP" i="1">
                          <a:latin typeface="Cambria Math" panose="02040503050406030204" pitchFamily="18" charset="0"/>
                        </a:rPr>
                        <m:t> </m:t>
                      </m:r>
                    </m:oMath>
                    <m:oMath xmlns:m="http://schemas.openxmlformats.org/officeDocument/2006/math">
                      <m:f>
                        <m:fPr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𝑍</m:t>
                          </m:r>
                        </m:den>
                      </m:f>
                      <m:nary>
                        <m:naryPr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sSup>
                            <m:sSupPr>
                              <m:ctrlPr>
                                <a:rPr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p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sup>
                        <m:e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𝑑𝑡</m:t>
                          </m:r>
                        </m:e>
                      </m:nary>
                      <m:r>
                        <a:rPr lang="en-US" altLang="ja-JP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𝑍</m:t>
                          </m:r>
                        </m:den>
                      </m:f>
                      <m:d>
                        <m:dPr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p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sSup>
                            <m:sSupPr>
                              <m:ctrlPr>
                                <a:rPr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p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′2</m:t>
                              </m:r>
                            </m:sup>
                          </m:sSup>
                        </m:e>
                      </m:d>
                      <m:r>
                        <a:rPr lang="en-US" altLang="ja-JP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ja-JP" i="1">
                          <a:latin typeface="Cambria Math" panose="02040503050406030204" pitchFamily="18" charset="0"/>
                        </a:rPr>
                        <m:t>𝑢</m:t>
                      </m:r>
                    </m:oMath>
                    <m:oMath xmlns:m="http://schemas.openxmlformats.org/officeDocument/2006/math">
                      <m:r>
                        <a:rPr lang="en-US" altLang="ja-JP" i="1">
                          <a:latin typeface="Cambria Math" panose="02040503050406030204" pitchFamily="18" charset="0"/>
                        </a:rPr>
                        <m:t> </m:t>
                      </m:r>
                    </m:oMath>
                    <m:oMath xmlns:m="http://schemas.openxmlformats.org/officeDocument/2006/math">
                      <m:f>
                        <m:fPr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num>
                        <m:den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p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′2</m:t>
                          </m:r>
                        </m:sup>
                      </m:sSup>
                      <m:r>
                        <a:rPr lang="en-US" altLang="ja-JP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sSup>
                        <m:sSupPr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p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altLang="ja-JP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ja-JP" i="1">
                          <a:latin typeface="Cambria Math" panose="02040503050406030204" pitchFamily="18" charset="0"/>
                        </a:rPr>
                        <m:t>𝑢𝑍</m:t>
                      </m:r>
                      <m:r>
                        <a:rPr lang="en-US" altLang="ja-JP" i="1">
                          <a:latin typeface="Cambria Math" panose="02040503050406030204" pitchFamily="18" charset="0"/>
                        </a:rPr>
                        <m:t>=0</m:t>
                      </m:r>
                    </m:oMath>
                    <m:oMath xmlns:m="http://schemas.openxmlformats.org/officeDocument/2006/math">
                      <m:r>
                        <a:rPr lang="en-US" altLang="ja-JP" i="1">
                          <a:latin typeface="Cambria Math" panose="02040503050406030204" pitchFamily="18" charset="0"/>
                        </a:rPr>
                        <m:t> </m:t>
                      </m:r>
                    </m:oMath>
                    <m:oMath xmlns:m="http://schemas.openxmlformats.org/officeDocument/2006/math">
                      <m:r>
                        <a:rPr lang="en-US" altLang="ja-JP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altLang="ja-JP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+</m:t>
                          </m:r>
                          <m:rad>
                            <m:radPr>
                              <m:degHide m:val="on"/>
                              <m:ctrlPr>
                                <a:rPr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bSup>
                                <m:sSubSupPr>
                                  <m:ctrlP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b>
                                <m:sup>
                                  <m: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d>
                                <m:dPr>
                                  <m:ctrlP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ja-JP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ja-JP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altLang="ja-JP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altLang="ja-JP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ja-JP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altLang="ja-JP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altLang="ja-JP" i="1">
                                          <a:latin typeface="Cambria Math" panose="02040503050406030204" pitchFamily="18" charset="0"/>
                                        </a:rPr>
                                        <m:t>−1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𝑢𝑍</m:t>
                              </m:r>
                            </m:e>
                          </m:rad>
                        </m:num>
                        <m:den>
                          <m:sSub>
                            <m:sSubPr>
                              <m:ctrlPr>
                                <a:rPr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den>
                      </m:f>
                      <m:r>
                        <a:rPr lang="en-US" altLang="ja-JP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+</m:t>
                          </m:r>
                          <m:rad>
                            <m:radPr>
                              <m:degHide m:val="on"/>
                              <m:ctrlPr>
                                <a:rPr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bSup>
                                <m:sSubSupPr>
                                  <m:ctrlP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b>
                                <m:sup>
                                  <m: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d>
                                    <m:dPr>
                                      <m:ctrlPr>
                                        <a:rPr lang="en-US" altLang="ja-JP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Sup>
                                        <m:sSubSupPr>
                                          <m:ctrlPr>
                                            <a:rPr lang="en-US" altLang="ja-JP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altLang="ja-JP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en-US" altLang="ja-JP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  <m:sup>
                                          <m:r>
                                            <a:rPr lang="en-US" altLang="ja-JP" b="0" i="1" smtClean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bSup>
                                      <m:r>
                                        <a:rPr lang="en-US" altLang="ja-JP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Sup>
                                        <m:sSubSupPr>
                                          <m:ctrlPr>
                                            <a:rPr lang="en-US" altLang="ja-JP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altLang="ja-JP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en-US" altLang="ja-JP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  <m:r>
                                            <a:rPr lang="en-US" altLang="ja-JP" i="1">
                                              <a:latin typeface="Cambria Math" panose="02040503050406030204" pitchFamily="18" charset="0"/>
                                            </a:rPr>
                                            <m:t>−1</m:t>
                                          </m:r>
                                        </m:sub>
                                        <m:sup>
                                          <m:r>
                                            <a:rPr lang="en-US" altLang="ja-JP" b="0" i="1" smtClean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bSup>
                                    </m:e>
                                  </m:d>
                                </m:num>
                                <m:den>
                                  <m: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</m:rad>
                        </m:num>
                        <m:den>
                          <m:sSub>
                            <m:sSubPr>
                              <m:ctrlPr>
                                <a:rPr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den>
                      </m:f>
                    </m:oMath>
                    <m:oMath xmlns:m="http://schemas.openxmlformats.org/officeDocument/2006/math"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  <m:oMath xmlns:m="http://schemas.openxmlformats.org/officeDocument/2006/math">
                      <m:sSub>
                        <m:sSubPr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ja-JP" altLang="en-US" i="1">
                          <a:latin typeface="Cambria Math" panose="02040503050406030204" pitchFamily="18" charset="0"/>
                        </a:rPr>
                        <m:t>のとき</m:t>
                      </m:r>
                      <m:r>
                        <a:rPr lang="ja-JP" altLang="en-US" i="1" smtClean="0">
                          <a:latin typeface="Cambria Math" panose="02040503050406030204" pitchFamily="18" charset="0"/>
                        </a:rPr>
                        <m:t>　</m:t>
                      </m:r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𝑢</m:t>
                      </m:r>
                    </m:oMath>
                  </m:oMathPara>
                </a14:m>
                <a:endParaRPr lang="ja-JP" altLang="en-US"/>
              </a:p>
              <a:p>
                <a:endParaRPr kumimoji="1" lang="ja-JP" altLang="en-US"/>
              </a:p>
            </p:txBody>
          </p:sp>
        </mc:Choice>
        <mc:Fallback xmlns="">
          <p:sp>
            <p:nvSpPr>
              <p:cNvPr id="3" name="コンテンツ プレースホルダー 2">
                <a:extLst>
                  <a:ext uri="{FF2B5EF4-FFF2-40B4-BE49-F238E27FC236}">
                    <a16:creationId xmlns:a16="http://schemas.microsoft.com/office/drawing/2014/main" id="{BACD03EA-442E-B495-73A0-230EB26C917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753533"/>
                <a:ext cx="10515600" cy="5423430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692288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テーマ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F46216B-77A9-411A-B9D3-5023FCB70208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41777</TotalTime>
  <Words>836</Words>
  <Application>Microsoft Office PowerPoint</Application>
  <PresentationFormat>ワイド画面</PresentationFormat>
  <Paragraphs>135</Paragraphs>
  <Slides>17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17</vt:i4>
      </vt:variant>
    </vt:vector>
  </HeadingPairs>
  <TitlesOfParts>
    <vt:vector size="23" baseType="lpstr">
      <vt:lpstr>游ゴシック</vt:lpstr>
      <vt:lpstr>Arial</vt:lpstr>
      <vt:lpstr>Calibri</vt:lpstr>
      <vt:lpstr>Calibri Light</vt:lpstr>
      <vt:lpstr>Cambria Math</vt:lpstr>
      <vt:lpstr>Office テーマ</vt:lpstr>
      <vt:lpstr>Procedural Physically based BRDF for Real-Time Rendering of Glints</vt:lpstr>
      <vt:lpstr>概要</vt:lpstr>
      <vt:lpstr>Slope Distribution Function</vt:lpstr>
      <vt:lpstr>PowerPoint プレゼンテーション</vt:lpstr>
      <vt:lpstr>Slope Distribution Function</vt:lpstr>
      <vt:lpstr>LOD</vt:lpstr>
      <vt:lpstr>Beckamnn NDF</vt:lpstr>
      <vt:lpstr>LOD</vt:lpstr>
      <vt:lpstr>多様化</vt:lpstr>
      <vt:lpstr>Patch BRDF</vt:lpstr>
      <vt:lpstr>重点的サンプリング</vt:lpstr>
      <vt:lpstr>パッチ</vt:lpstr>
      <vt:lpstr>パッチ</vt:lpstr>
      <vt:lpstr>PowerPoint プレゼンテーション</vt:lpstr>
      <vt:lpstr>SDF の正規化</vt:lpstr>
      <vt:lpstr>重点的サンプリング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豪祐 名畑</dc:creator>
  <cp:lastModifiedBy>豪祐 名畑</cp:lastModifiedBy>
  <cp:revision>8</cp:revision>
  <dcterms:created xsi:type="dcterms:W3CDTF">2025-05-22T15:32:27Z</dcterms:created>
  <dcterms:modified xsi:type="dcterms:W3CDTF">2025-06-29T01:16:36Z</dcterms:modified>
</cp:coreProperties>
</file>