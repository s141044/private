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3" r:id="rId14"/>
    <p:sldId id="268" r:id="rId15"/>
    <p:sldId id="272" r:id="rId16"/>
    <p:sldId id="270" r:id="rId17"/>
    <p:sldId id="271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2" autoAdjust="0"/>
    <p:restoredTop sz="94660"/>
  </p:normalViewPr>
  <p:slideViewPr>
    <p:cSldViewPr snapToGrid="0">
      <p:cViewPr varScale="1">
        <p:scale>
          <a:sx n="77" d="100"/>
          <a:sy n="77" d="100"/>
        </p:scale>
        <p:origin x="88" y="6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687C97-18DD-46AD-B79F-22424EBB7FF1}" type="datetimeFigureOut">
              <a:rPr kumimoji="1" lang="ja-JP" altLang="en-US" smtClean="0"/>
              <a:t>2025/7/5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E6B89E-89CD-41E7-B9C1-C3DED52A10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83656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E6B89E-89CD-41E7-B9C1-C3DED52A10E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39598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2025/7/5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0409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2025/7/5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7335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2025/7/5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555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2025/7/5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7833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2025/7/5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2554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2025/7/5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04799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2025/7/5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11193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2025/7/5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2392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2025/7/5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5595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2025/7/5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7929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A4CDC-7D36-4B4A-B488-116582B3A61D}" type="datetimeFigureOut">
              <a:rPr kumimoji="1" lang="ja-JP" altLang="en-US" smtClean="0"/>
              <a:t>2025/7/5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2984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FA4CDC-7D36-4B4A-B488-116582B3A61D}" type="datetimeFigureOut">
              <a:rPr kumimoji="1" lang="ja-JP" altLang="en-US" smtClean="0"/>
              <a:t>2025/7/5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C96767-B544-4B7D-AF8C-E2739673A4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00032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15EF12-C039-7E16-8411-B267CEFD1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8309" y="1574850"/>
            <a:ext cx="9395382" cy="2387600"/>
          </a:xfrm>
        </p:spPr>
        <p:txBody>
          <a:bodyPr>
            <a:normAutofit fontScale="90000"/>
          </a:bodyPr>
          <a:lstStyle/>
          <a:p>
            <a:r>
              <a:rPr lang="en-US" altLang="ja-JP"/>
              <a:t>Procedural Physically based BRDF for Real-Time Rendering of Glints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665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1A24E7-81E4-6C5A-16D8-9ED083806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概要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DC03179-7E12-1275-5AF6-B21A0C4E9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sz="2400"/>
              <a:t>目標：高パフォーマンス＆低メモリ</a:t>
            </a:r>
            <a:endParaRPr lang="en-US" altLang="ja-JP" sz="2400"/>
          </a:p>
          <a:p>
            <a:r>
              <a:rPr lang="en-US" altLang="ja-JP" sz="2400"/>
              <a:t>SDF</a:t>
            </a:r>
            <a:r>
              <a:rPr lang="ja-JP" altLang="en-US" sz="2400"/>
              <a:t>を周辺化し</a:t>
            </a:r>
            <a:r>
              <a:rPr lang="en-US" altLang="ja-JP" sz="2400"/>
              <a:t>1</a:t>
            </a:r>
            <a:r>
              <a:rPr lang="ja-JP" altLang="en-US" sz="2400"/>
              <a:t>次元化したものを保存</a:t>
            </a:r>
            <a:endParaRPr lang="en-US" altLang="ja-JP" sz="2400"/>
          </a:p>
          <a:p>
            <a:pPr lvl="1"/>
            <a:r>
              <a:rPr lang="en-US" altLang="ja-JP" sz="1800"/>
              <a:t>SDF: Slope Distribution Function</a:t>
            </a:r>
            <a:endParaRPr lang="en-US" altLang="ja-JP" sz="2000"/>
          </a:p>
          <a:p>
            <a:r>
              <a:rPr lang="en-US" altLang="ja-JP" sz="2400"/>
              <a:t>2</a:t>
            </a:r>
            <a:r>
              <a:rPr lang="ja-JP" altLang="en-US" sz="2400"/>
              <a:t>つの周辺化</a:t>
            </a:r>
            <a:r>
              <a:rPr lang="en-US" altLang="ja-JP" sz="2400"/>
              <a:t>SDF</a:t>
            </a:r>
            <a:r>
              <a:rPr lang="ja-JP" altLang="en-US" sz="2400"/>
              <a:t>の積で</a:t>
            </a:r>
            <a:r>
              <a:rPr lang="en-US" altLang="ja-JP" sz="2400"/>
              <a:t>SDF</a:t>
            </a:r>
            <a:r>
              <a:rPr lang="ja-JP" altLang="en-US" sz="2400"/>
              <a:t>を表現</a:t>
            </a:r>
            <a:endParaRPr lang="en-US" altLang="ja-JP" sz="2400"/>
          </a:p>
          <a:p>
            <a:pPr lvl="1"/>
            <a:r>
              <a:rPr lang="ja-JP" altLang="en-US" sz="2000"/>
              <a:t>ヒット位置に対応する乱数で</a:t>
            </a:r>
            <a:r>
              <a:rPr lang="en-US" altLang="ja-JP" sz="2000"/>
              <a:t>SDF</a:t>
            </a:r>
            <a:r>
              <a:rPr lang="ja-JP" altLang="en-US" sz="2000"/>
              <a:t>のバリエーションを増やす</a:t>
            </a:r>
            <a:endParaRPr lang="en-US" altLang="ja-JP" sz="2000"/>
          </a:p>
          <a:p>
            <a:pPr lvl="1"/>
            <a:endParaRPr lang="en-US" altLang="ja-JP" sz="2000"/>
          </a:p>
          <a:p>
            <a:endParaRPr kumimoji="1" lang="ja-JP" altLang="en-US" sz="240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C604D7C-F130-1475-9CCC-8F9D06DA09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1500" y="4079129"/>
            <a:ext cx="5969000" cy="215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499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8E9AA7-4F70-FD22-2F38-AAE748E08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Slope Distribution Function</a:t>
            </a:r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4924071C-50F1-31AC-0471-CFE06AC659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kumimoji="1" lang="en-US" altLang="ja-JP" sz="2400"/>
                  <a:t>micro normal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kumimoji="1"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kumimoji="1" lang="en-US" altLang="ja-JP" sz="2400"/>
                  <a:t>)</a:t>
                </a:r>
                <a:r>
                  <a:rPr kumimoji="1" lang="ja-JP" altLang="en-US" sz="2400"/>
                  <a:t>の分布が</a:t>
                </a:r>
                <a:r>
                  <a:rPr kumimoji="1" lang="en-US" altLang="ja-JP" sz="2400"/>
                  <a:t>Normal Distribution Function</a:t>
                </a:r>
              </a:p>
              <a:p>
                <a:r>
                  <a:rPr lang="en-US" altLang="ja-JP" sz="2400"/>
                  <a:t>micro normal</a:t>
                </a:r>
                <a:r>
                  <a:rPr lang="ja-JP" altLang="en-US" sz="2400"/>
                  <a:t>の傾き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acc>
                  </m:oMath>
                </a14:m>
                <a:r>
                  <a:rPr lang="ja-JP" altLang="en-US" sz="2400"/>
                  <a:t>の分布が</a:t>
                </a:r>
                <a:r>
                  <a:rPr lang="en-US" altLang="ja-JP" sz="2400"/>
                  <a:t>Slope Distribution Function</a:t>
                </a:r>
              </a:p>
              <a:p>
                <a:pPr lvl="8"/>
                <a:endParaRPr lang="en-US" altLang="ja-JP" sz="140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acc>
                            <m:accPr>
                              <m:chr m:val="̃"/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sub>
                      </m:sSub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,−</m:t>
                          </m:r>
                          <m:f>
                            <m:f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altLang="ja-JP" sz="2400"/>
              </a:p>
              <a:p>
                <a:r>
                  <a:rPr lang="en-US" altLang="ja-JP" sz="2400"/>
                  <a:t>SDF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acc>
                              <m:accPr>
                                <m:chr m:val="̃"/>
                                <m:ctrlP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</m:acc>
                          </m:sub>
                        </m:sSub>
                      </m:e>
                    </m:d>
                  </m:oMath>
                </a14:m>
                <a:r>
                  <a:rPr lang="ja-JP" altLang="en-US" sz="2400"/>
                  <a:t>と</a:t>
                </a:r>
                <a:r>
                  <a:rPr lang="en-US" altLang="ja-JP" sz="2400"/>
                  <a:t>NDF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ja-JP" altLang="en-US" sz="2400"/>
                  <a:t>の関係</a:t>
                </a:r>
                <a:endParaRPr lang="en-US" altLang="ja-JP" sz="2400"/>
              </a:p>
              <a:p>
                <a:pPr lvl="8"/>
                <a:endParaRPr lang="en-US" altLang="ja-JP" sz="140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acc>
                                    <m:accPr>
                                      <m:chr m:val="̃"/>
                                      <m:ctrlP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sub>
                              </m:sSub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altLang="ja-JP" sz="240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</m:oMath>
                </a14:m>
                <a:r>
                  <a:rPr lang="ja-JP" altLang="en-US" sz="2000"/>
                  <a:t>は</a:t>
                </a:r>
                <a:r>
                  <a:rPr lang="en-US" altLang="ja-JP" sz="2000"/>
                  <a:t>geometric normal</a:t>
                </a:r>
              </a:p>
              <a:p>
                <a:r>
                  <a:rPr lang="en-US" altLang="ja-JP" sz="2400"/>
                  <a:t>NDF</a:t>
                </a:r>
                <a:r>
                  <a:rPr lang="ja-JP" altLang="en-US" sz="2400"/>
                  <a:t>の制約 </a:t>
                </a:r>
                <a14:m>
                  <m:oMath xmlns:m="http://schemas.openxmlformats.org/officeDocument/2006/math">
                    <m:nary>
                      <m:naryPr>
                        <m:subHide m:val="on"/>
                        <m:supHide m:val="on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sub>
                            </m:sSub>
                          </m:e>
                        </m:d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kumimoji="1" lang="en-US" altLang="ja-JP" sz="2400"/>
                  <a:t> </a:t>
                </a:r>
                <a:r>
                  <a:rPr kumimoji="1" lang="ja-JP" altLang="en-US" sz="2400"/>
                  <a:t>より</a:t>
                </a:r>
                <a:endParaRPr kumimoji="1" lang="en-US" altLang="ja-JP" sz="2400"/>
              </a:p>
              <a:p>
                <a:pPr lvl="8"/>
                <a:endParaRPr kumimoji="1" lang="en-US" altLang="ja-JP" sz="140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−∞</m:t>
                          </m:r>
                        </m:sub>
                        <m:sup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nary>
                            <m:naryPr>
                              <m:ctrl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−∞</m:t>
                              </m:r>
                            </m:sub>
                            <m:sup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ja-JP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ja-JP" sz="2400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</m:acc>
                                    </m:sub>
                                  </m:sSub>
                                </m:e>
                              </m:d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acc>
                                    <m:accPr>
                                      <m:chr m:val="̃"/>
                                      <m:ctrlP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sub>
                              </m:sSub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acc>
                                    <m:accPr>
                                      <m:chr m:val="̃"/>
                                      <m:ctrlP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ja-JP" sz="24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ja-JP" sz="2400"/>
              </a:p>
              <a:p>
                <a:endParaRPr lang="en-US" altLang="ja-JP" sz="2400"/>
              </a:p>
              <a:p>
                <a:endParaRPr kumimoji="1" lang="ja-JP" altLang="en-US" sz="2400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4924071C-50F1-31AC-0471-CFE06AC659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522" t="-1961" b="-154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11852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FBEBF0EF-BD98-456E-F98F-C410375937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711200"/>
                <a:ext cx="8445403" cy="5465763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e>
                      </m:d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acc>
                            <m:accPr>
                              <m:chr m:val="̃"/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  <m:func>
                                <m:func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</m:num>
                            <m:den>
                              <m:func>
                                <m:func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</m:den>
                          </m:f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,−</m:t>
                          </m:r>
                          <m:f>
                            <m:f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  <m:func>
                                <m:func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</m:num>
                            <m:den>
                              <m:func>
                                <m:func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</m:den>
                          </m:f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,−</m:t>
                          </m:r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e>
                      </m:d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num>
                        <m:den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  </m:t>
                      </m:r>
                      <m:f>
                        <m:f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num>
                        <m:den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func>
                        <m:func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num>
                        <m:den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kumimoji="1" lang="en-US" altLang="ja-JP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r>
                        <a:rPr kumimoji="1" lang="en-US" altLang="ja-JP" i="1">
                          <a:latin typeface="Cambria Math" panose="02040503050406030204" pitchFamily="18" charset="0"/>
                        </a:rPr>
                        <m:t>,  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num>
                        <m:den>
                          <m:r>
                            <a:rPr kumimoji="1" lang="en-US" altLang="ja-JP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den>
                      </m:f>
                      <m:r>
                        <a:rPr kumimoji="1"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kumimoji="1"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r>
                        <a:rPr kumimoji="1" lang="en-US" altLang="ja-JP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e>
                                <m:sup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func>
                        <m:func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1" lang="en-US" altLang="ja-JP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sSub>
                            <m:sSub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</m:oMath>
                    <m:oMath xmlns:m="http://schemas.openxmlformats.org/officeDocument/2006/math">
                      <m:r>
                        <a:rPr kumimoji="1" lang="en-US" altLang="ja-JP" i="1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kumimoji="1"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func>
                            <m:funcPr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kumimoji="1" lang="en-US" altLang="ja-JP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nary>
                        <m:naryPr>
                          <m:subHide m:val="on"/>
                          <m:supHide m:val="on"/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nary>
                            <m:naryPr>
                              <m:subHide m:val="on"/>
                              <m:supHide m:val="on"/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d>
                              <m:func>
                                <m:func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  <m:func>
                                <m:func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 b="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bHide m:val="on"/>
                          <m:supHide m:val="on"/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nary>
                            <m:naryPr>
                              <m:subHide m:val="on"/>
                              <m:supHide m:val="on"/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f>
                                <m:f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22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1" lang="en-US" altLang="ja-JP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1" lang="en-US" altLang="ja-JP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acc>
                                            <m:accPr>
                                              <m:chr m:val="̃"/>
                                              <m:ctrlPr>
                                                <a:rPr kumimoji="1" lang="en-US" altLang="ja-JP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kumimoji="1" lang="en-US" altLang="ja-JP" i="1">
                                                  <a:latin typeface="Cambria Math" panose="02040503050406030204" pitchFamily="18" charset="0"/>
                                                </a:rPr>
                                                <m:t>𝑚</m:t>
                                              </m:r>
                                            </m:e>
                                          </m:acc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func>
                                    <m:func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kumimoji="1" lang="en-US" altLang="ja-JP" b="0" i="0" smtClean="0">
                                              <a:latin typeface="Cambria Math" panose="02040503050406030204" pitchFamily="18" charset="0"/>
                                            </a:rPr>
                                            <m:t>cos</m:t>
                                          </m:r>
                                        </m:e>
                                        <m:sup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sSub>
                                        <m:sSubPr>
                                          <m:ctrlP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func>
                                </m:den>
                              </m:f>
                              <m:func>
                                <m:func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1" lang="en-US" altLang="ja-JP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f>
                                <m:f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kumimoji="1" lang="en-US" altLang="ja-JP" b="0" i="0" smtClean="0">
                                              <a:latin typeface="Cambria Math" panose="02040503050406030204" pitchFamily="18" charset="0"/>
                                            </a:rPr>
                                            <m:t>cos</m:t>
                                          </m:r>
                                        </m:e>
                                        <m:sup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sSub>
                                        <m:sSubPr>
                                          <m:ctrlP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func>
                                </m:num>
                                <m:den>
                                  <m:func>
                                    <m:funcPr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kumimoji="1" lang="en-US" altLang="ja-JP" b="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sSub>
                                        <m:sSubPr>
                                          <m:ctrlP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kumimoji="1"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func>
                                </m:den>
                              </m:f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acc>
                                    <m:accPr>
                                      <m:chr m:val="̃"/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sub>
                              </m:s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acc>
                                    <m:accPr>
                                      <m:chr m:val="̃"/>
                                      <m:ctrlP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1"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sub>
                              </m:sSub>
                            </m:e>
                          </m:nary>
                        </m:e>
                      </m:nary>
                      <m:r>
                        <a:rPr kumimoji="1"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bHide m:val="on"/>
                          <m:supHide m:val="on"/>
                          <m:ctrlPr>
                            <a:rPr kumimoji="1" lang="en-US" altLang="ja-JP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nary>
                            <m:naryPr>
                              <m:subHide m:val="on"/>
                              <m:supHide m:val="on"/>
                              <m:ctrlP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acc>
                                        <m:accPr>
                                          <m:chr m:val="̃"/>
                                          <m:ctrlPr>
                                            <a:rPr kumimoji="1" lang="en-US" altLang="ja-JP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kumimoji="1" lang="en-US" altLang="ja-JP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</m:acc>
                                    </m:sub>
                                  </m:sSub>
                                </m:e>
                              </m:d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acc>
                                    <m:accPr>
                                      <m:chr m:val="̃"/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sub>
                              </m:sSub>
                              <m:r>
                                <a:rPr kumimoji="1" lang="en-US" altLang="ja-JP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acc>
                                    <m:accPr>
                                      <m:chr m:val="̃"/>
                                      <m:ctrlP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1"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</m:acc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kumimoji="1" lang="en-US" altLang="ja-JP" i="1">
                  <a:latin typeface="Cambria Math" panose="02040503050406030204" pitchFamily="18" charset="0"/>
                </a:endParaRPr>
              </a:p>
              <a:p>
                <a:endParaRPr kumimoji="1" lang="ja-JP" altLang="en-US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FBEBF0EF-BD98-456E-F98F-C410375937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711200"/>
                <a:ext cx="8445403" cy="5465763"/>
              </a:xfrm>
              <a:blipFill>
                <a:blip r:embed="rId2"/>
                <a:stretch>
                  <a:fillRect l="-8375" r="-1588" b="-2064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7859650-4C2C-8667-A6A5-95645C7921E2}"/>
              </a:ext>
            </a:extLst>
          </p:cNvPr>
          <p:cNvCxnSpPr/>
          <p:nvPr/>
        </p:nvCxnSpPr>
        <p:spPr>
          <a:xfrm>
            <a:off x="7231438" y="4209032"/>
            <a:ext cx="315502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74E0758A-6971-1033-A73A-1D6C26B6E2AA}"/>
              </a:ext>
            </a:extLst>
          </p:cNvPr>
          <p:cNvCxnSpPr/>
          <p:nvPr/>
        </p:nvCxnSpPr>
        <p:spPr>
          <a:xfrm>
            <a:off x="7231437" y="3309032"/>
            <a:ext cx="315502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円弧 8">
            <a:extLst>
              <a:ext uri="{FF2B5EF4-FFF2-40B4-BE49-F238E27FC236}">
                <a16:creationId xmlns:a16="http://schemas.microsoft.com/office/drawing/2014/main" id="{525AAD9E-C3AA-81AF-7AAD-E2D41055BD77}"/>
              </a:ext>
            </a:extLst>
          </p:cNvPr>
          <p:cNvSpPr/>
          <p:nvPr/>
        </p:nvSpPr>
        <p:spPr>
          <a:xfrm>
            <a:off x="7949594" y="3309032"/>
            <a:ext cx="1800000" cy="1800000"/>
          </a:xfrm>
          <a:prstGeom prst="arc">
            <a:avLst>
              <a:gd name="adj1" fmla="val 1076851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731F51C1-CDAC-41E0-FDEE-C2633D5DBBAB}"/>
              </a:ext>
            </a:extLst>
          </p:cNvPr>
          <p:cNvCxnSpPr/>
          <p:nvPr/>
        </p:nvCxnSpPr>
        <p:spPr>
          <a:xfrm>
            <a:off x="8849594" y="3309032"/>
            <a:ext cx="0" cy="90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6AF1CE2B-D009-C527-1333-AF0F5A252A74}"/>
              </a:ext>
            </a:extLst>
          </p:cNvPr>
          <p:cNvCxnSpPr/>
          <p:nvPr/>
        </p:nvCxnSpPr>
        <p:spPr>
          <a:xfrm flipV="1">
            <a:off x="8849594" y="3611033"/>
            <a:ext cx="675406" cy="597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E0CD8DCE-300D-CB8D-2973-553C080E82B0}"/>
              </a:ext>
            </a:extLst>
          </p:cNvPr>
          <p:cNvCxnSpPr>
            <a:cxnSpLocks/>
          </p:cNvCxnSpPr>
          <p:nvPr/>
        </p:nvCxnSpPr>
        <p:spPr>
          <a:xfrm flipV="1">
            <a:off x="8849593" y="3312583"/>
            <a:ext cx="1017692" cy="8964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A314ADE-4B7F-E753-FA8B-6048721B8901}"/>
              </a:ext>
            </a:extLst>
          </p:cNvPr>
          <p:cNvSpPr txBox="1"/>
          <p:nvPr/>
        </p:nvSpPr>
        <p:spPr>
          <a:xfrm>
            <a:off x="8595356" y="2906035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z=1</a:t>
            </a:r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2D344CC-34F2-FAD4-8215-B0C122317C07}"/>
              </a:ext>
            </a:extLst>
          </p:cNvPr>
          <p:cNvSpPr txBox="1"/>
          <p:nvPr/>
        </p:nvSpPr>
        <p:spPr>
          <a:xfrm>
            <a:off x="10380493" y="4024366"/>
            <a:ext cx="445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x,y</a:t>
            </a:r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53ADC1B6-3C93-0093-9E8D-B9F1DA28522E}"/>
                  </a:ext>
                </a:extLst>
              </p:cNvPr>
              <p:cNvSpPr txBox="1"/>
              <p:nvPr/>
            </p:nvSpPr>
            <p:spPr>
              <a:xfrm>
                <a:off x="9283603" y="1736647"/>
                <a:ext cx="1987467" cy="14460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b="0">
                    <a:latin typeface="Cambria Math" panose="02040503050406030204" pitchFamily="18" charset="0"/>
                  </a:rPr>
                  <a:t>幾何的には</a:t>
                </a:r>
                <a:endParaRPr kumimoji="1" lang="en-US" altLang="ja-JP" b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𝑑𝐴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num>
                        <m:den>
                          <m:sSup>
                            <m:sSup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kumimoji="1" lang="en-US" altLang="ja-JP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𝑑𝐴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∗</m:t>
                      </m:r>
                      <m:func>
                        <m:func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kumimoji="1" lang="en-US" altLang="ja-JP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e>
                            <m:sup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fName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kumimoji="1" lang="ja-JP" altLang="en-US" i="1"/>
              </a:p>
            </p:txBody>
          </p:sp>
        </mc:Choice>
        <mc:Fallback xmlns=""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53ADC1B6-3C93-0093-9E8D-B9F1DA2852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3603" y="1736647"/>
                <a:ext cx="1987467" cy="1446037"/>
              </a:xfrm>
              <a:prstGeom prst="rect">
                <a:avLst/>
              </a:prstGeom>
              <a:blipFill>
                <a:blip r:embed="rId3"/>
                <a:stretch>
                  <a:fillRect l="-2761" t="-211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0057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FC20A2-74DC-9FF9-62D7-D7A656ECA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Slope Distribution Function</a:t>
            </a:r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AB693D63-E1BE-7F91-B8AE-3B8CFDE8F6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</p:spPr>
            <p:txBody>
              <a:bodyPr>
                <a:normAutofit/>
              </a:bodyPr>
              <a:lstStyle/>
              <a:p>
                <a:r>
                  <a:rPr kumimoji="1" lang="en-US" altLang="ja-JP" sz="2400"/>
                  <a:t>SDF</a:t>
                </a:r>
                <a:r>
                  <a:rPr kumimoji="1" lang="ja-JP" altLang="en-US" sz="2400"/>
                  <a:t>を</a:t>
                </a:r>
                <a:r>
                  <a:rPr kumimoji="1" lang="en-US" altLang="ja-JP" sz="2400"/>
                  <a:t>2</a:t>
                </a:r>
                <a:r>
                  <a:rPr kumimoji="1" lang="ja-JP" altLang="en-US" sz="2400"/>
                  <a:t>つの周辺化</a:t>
                </a:r>
                <a:r>
                  <a:rPr kumimoji="1" lang="en-US" altLang="ja-JP" sz="2400"/>
                  <a:t>SDF</a:t>
                </a:r>
                <a:r>
                  <a:rPr lang="ja-JP" altLang="en-US" sz="2400"/>
                  <a:t>の積で表現</a:t>
                </a:r>
                <a:endParaRPr lang="en-US" altLang="ja-JP" sz="2400"/>
              </a:p>
              <a:p>
                <a:pPr lvl="1"/>
                <a:r>
                  <a:rPr kumimoji="1" lang="ja-JP" altLang="en-US" sz="2000"/>
                  <a:t>周辺化</a:t>
                </a:r>
                <a:r>
                  <a:rPr kumimoji="1" lang="en-US" altLang="ja-JP" sz="2000"/>
                  <a:t>SDF</a:t>
                </a:r>
                <a:r>
                  <a:rPr kumimoji="1" lang="ja-JP" altLang="en-US" sz="2000"/>
                  <a:t>が正規化</a:t>
                </a:r>
                <a:r>
                  <a:rPr lang="ja-JP" altLang="en-US" sz="2000"/>
                  <a:t>済み</a:t>
                </a:r>
                <a:r>
                  <a:rPr kumimoji="1" lang="ja-JP" altLang="en-US" sz="2000"/>
                  <a:t>ならば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</m:sSub>
                  </m:oMath>
                </a14:m>
                <a:r>
                  <a:rPr kumimoji="1" lang="ja-JP" altLang="en-US" sz="2000"/>
                  <a:t>も正規化された状態</a:t>
                </a:r>
                <a:endParaRPr lang="en-US" altLang="ja-JP" sz="2000"/>
              </a:p>
              <a:p>
                <a:pPr lvl="8"/>
                <a:endParaRPr lang="en-US" altLang="ja-JP" sz="1600" b="0" i="1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2−</m:t>
                          </m:r>
                        </m:sub>
                      </m:sSub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d>
                        <m:d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</m:oMath>
                  </m:oMathPara>
                </a14:m>
                <a:endParaRPr lang="en-US" altLang="ja-JP" sz="2400"/>
              </a:p>
              <a:p>
                <a:pPr lvl="8"/>
                <a:endParaRPr kumimoji="1" lang="en-US" altLang="ja-JP" sz="1400"/>
              </a:p>
              <a:p>
                <a:r>
                  <a:rPr lang="ja-JP" altLang="en-US" sz="2400"/>
                  <a:t>記録する</a:t>
                </a:r>
                <a:r>
                  <a:rPr lang="en-US" altLang="ja-JP" sz="2400"/>
                  <a:t>SDF</a:t>
                </a:r>
                <a:r>
                  <a:rPr lang="ja-JP" altLang="en-US" sz="2400"/>
                  <a:t>は正領域のみ</a:t>
                </a:r>
                <a:endParaRPr kumimoji="1" lang="en-US" altLang="ja-JP" sz="2400"/>
              </a:p>
              <a:p>
                <a:pPr lvl="1"/>
                <a:r>
                  <a:rPr kumimoji="1" lang="en-US" altLang="ja-JP" sz="2000"/>
                  <a:t>micro normal</a:t>
                </a:r>
                <a:r>
                  <a:rPr kumimoji="1" lang="ja-JP" altLang="en-US" sz="2000"/>
                  <a:t>の平均の方向を</a:t>
                </a:r>
                <a:r>
                  <a:rPr kumimoji="1" lang="en-US" altLang="ja-JP" sz="2000"/>
                  <a:t>geometric normal</a:t>
                </a:r>
                <a:r>
                  <a:rPr kumimoji="1" lang="ja-JP" altLang="en-US" sz="2000"/>
                  <a:t>と一致させるため</a:t>
                </a:r>
                <a:endParaRPr kumimoji="1" lang="en-US" altLang="ja-JP" sz="2000"/>
              </a:p>
              <a:p>
                <a:pPr lvl="1"/>
                <a:endParaRPr kumimoji="1" lang="en-US" altLang="ja-JP" sz="2000"/>
              </a:p>
              <a:p>
                <a:endParaRPr kumimoji="1" lang="en-US" altLang="ja-JP" sz="2400"/>
              </a:p>
              <a:p>
                <a:endParaRPr lang="en-US" altLang="ja-JP" sz="2400"/>
              </a:p>
              <a:p>
                <a:endParaRPr kumimoji="1" lang="en-US" altLang="ja-JP" sz="2400"/>
              </a:p>
              <a:p>
                <a:endParaRPr lang="en-US" altLang="ja-JP" sz="2400"/>
              </a:p>
              <a:p>
                <a:endParaRPr kumimoji="1" lang="ja-JP" altLang="en-US" sz="2400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AB693D63-E1BE-7F91-B8AE-3B8CFDE8F6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  <a:blipFill>
                <a:blip r:embed="rId2"/>
                <a:stretch>
                  <a:fillRect l="-1064" t="-196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図 4">
            <a:extLst>
              <a:ext uri="{FF2B5EF4-FFF2-40B4-BE49-F238E27FC236}">
                <a16:creationId xmlns:a16="http://schemas.microsoft.com/office/drawing/2014/main" id="{F1EEAB12-0F4C-01D3-7A3F-16B43D69F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7733" y="3993137"/>
            <a:ext cx="2873325" cy="2499738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2444DC9-DEE7-7AFE-AB65-A842415A8848}"/>
              </a:ext>
            </a:extLst>
          </p:cNvPr>
          <p:cNvSpPr/>
          <p:nvPr/>
        </p:nvSpPr>
        <p:spPr>
          <a:xfrm>
            <a:off x="10581005" y="4613274"/>
            <a:ext cx="949325" cy="9493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25494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64993B-B573-5726-C51E-115EEBCE7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LOD</a:t>
            </a:r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8A204AFC-8809-FA81-E689-E3F638C091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kumimoji="1" lang="ja-JP" altLang="en-US"/>
                  <a:t>パッチサイズに応じた</a:t>
                </a:r>
                <a:r>
                  <a:rPr kumimoji="1" lang="en-US" altLang="ja-JP"/>
                  <a:t>LOD</a:t>
                </a:r>
                <a:r>
                  <a:rPr kumimoji="1" lang="ja-JP" altLang="en-US"/>
                  <a:t>の</a:t>
                </a:r>
                <a:r>
                  <a:rPr kumimoji="1" lang="en-US" altLang="ja-JP"/>
                  <a:t>SDF</a:t>
                </a:r>
                <a:r>
                  <a:rPr kumimoji="1" lang="ja-JP" altLang="en-US"/>
                  <a:t>を使用</a:t>
                </a:r>
                <a:endParaRPr kumimoji="1" lang="en-US" altLang="ja-JP"/>
              </a:p>
              <a:p>
                <a:pPr lvl="1"/>
                <a:r>
                  <a:rPr kumimoji="1" lang="en-US" altLang="ja-JP"/>
                  <a:t>LOD</a:t>
                </a:r>
                <a:r>
                  <a:rPr kumimoji="1" lang="ja-JP" altLang="en-US"/>
                  <a:t>が低いほどローブが少ない</a:t>
                </a:r>
                <a:endParaRPr kumimoji="1" lang="en-US" altLang="ja-JP"/>
              </a:p>
              <a:p>
                <a:pPr lvl="1"/>
                <a:r>
                  <a:rPr kumimoji="1" lang="ja-JP" altLang="en-US"/>
                  <a:t>最大</a:t>
                </a:r>
                <a:r>
                  <a:rPr kumimoji="1" lang="en-US" altLang="ja-JP"/>
                  <a:t>LOD</a:t>
                </a:r>
                <a:r>
                  <a:rPr kumimoji="1" lang="ja-JP" altLang="en-US"/>
                  <a:t>で</a:t>
                </a:r>
                <a:r>
                  <a:rPr kumimoji="1" lang="en-US" altLang="ja-JP"/>
                  <a:t>Beckmann</a:t>
                </a:r>
                <a:r>
                  <a:rPr kumimoji="1" lang="ja-JP" altLang="en-US"/>
                  <a:t>分布と一致</a:t>
                </a:r>
                <a:endParaRPr kumimoji="1" lang="en-US" altLang="ja-JP"/>
              </a:p>
              <a:p>
                <a:pPr lvl="2"/>
                <a:r>
                  <a:rPr lang="en-US" altLang="ja-JP"/>
                  <a:t>Beckmann</a:t>
                </a:r>
                <a:r>
                  <a:rPr lang="ja-JP" altLang="en-US"/>
                  <a:t>は</a:t>
                </a:r>
                <a:r>
                  <a:rPr lang="en-US" altLang="ja-JP"/>
                  <a:t>separable</a:t>
                </a:r>
              </a:p>
              <a:p>
                <a:pPr lvl="2"/>
                <a:r>
                  <a:rPr lang="en-US" altLang="ja-JP"/>
                  <a:t>SDF</a:t>
                </a:r>
                <a:r>
                  <a:rPr lang="ja-JP" altLang="en-US"/>
                  <a:t>を</a:t>
                </a:r>
                <a:r>
                  <a:rPr lang="en-US" altLang="ja-JP"/>
                  <a:t>2</a:t>
                </a:r>
                <a:r>
                  <a:rPr lang="ja-JP" altLang="en-US"/>
                  <a:t>つの周辺化</a:t>
                </a:r>
                <a:r>
                  <a:rPr lang="en-US" altLang="ja-JP"/>
                  <a:t>SDF</a:t>
                </a:r>
                <a:r>
                  <a:rPr lang="ja-JP" altLang="en-US"/>
                  <a:t>の積に分離するために必要な特性</a:t>
                </a:r>
                <a:endParaRPr lang="en-US" altLang="ja-JP"/>
              </a:p>
              <a:p>
                <a:pPr lvl="8"/>
                <a:endParaRPr lang="en-US" altLang="ja-JP"/>
              </a:p>
              <a:p>
                <a:r>
                  <a:rPr lang="ja-JP" altLang="en-US"/>
                  <a:t>生成</a:t>
                </a:r>
                <a:endParaRPr lang="en-US" altLang="ja-JP"/>
              </a:p>
              <a:p>
                <a:pPr lvl="1"/>
                <a14:m>
                  <m:oMath xmlns:m="http://schemas.openxmlformats.org/officeDocument/2006/math"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=0.5 </m:t>
                    </m:r>
                  </m:oMath>
                </a14:m>
                <a:r>
                  <a:rPr lang="ja-JP" altLang="en-US"/>
                  <a:t>の</a:t>
                </a:r>
                <a:r>
                  <a:rPr lang="en-US" altLang="ja-JP"/>
                  <a:t>Beckmann</a:t>
                </a:r>
                <a:r>
                  <a:rPr lang="ja-JP" altLang="en-US"/>
                  <a:t>分布の重点的サンプリング</a:t>
                </a:r>
                <a:endParaRPr lang="en-US" altLang="ja-JP"/>
              </a:p>
              <a:p>
                <a:pPr lvl="2"/>
                <a14:m>
                  <m:oMath xmlns:m="http://schemas.openxmlformats.org/officeDocument/2006/math"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≠0.5</m:t>
                    </m:r>
                  </m:oMath>
                </a14:m>
                <a:r>
                  <a:rPr lang="ja-JP" altLang="en-US"/>
                  <a:t>はテーブルのサンプリングの工夫で対応</a:t>
                </a:r>
                <a:endParaRPr lang="en-US" altLang="ja-JP"/>
              </a:p>
              <a:p>
                <a:pPr lvl="1"/>
                <a14:m>
                  <m:oMath xmlns:m="http://schemas.openxmlformats.org/officeDocument/2006/math"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=0.02</m:t>
                    </m:r>
                  </m:oMath>
                </a14:m>
                <a:r>
                  <a:rPr lang="ja-JP" altLang="en-US"/>
                  <a:t>のガウスでテーブルに値を記録</a:t>
                </a:r>
                <a:endParaRPr lang="en-US" altLang="ja-JP"/>
              </a:p>
              <a:p>
                <a:pPr lvl="1"/>
                <a:r>
                  <a:rPr lang="ja-JP" altLang="en-US"/>
                  <a:t>ミップレベル数は</a:t>
                </a:r>
                <a:r>
                  <a:rPr lang="en-US" altLang="ja-JP"/>
                  <a:t>16</a:t>
                </a:r>
              </a:p>
              <a:p>
                <a:pPr lvl="1"/>
                <a:r>
                  <a:rPr lang="ja-JP" altLang="en-US"/>
                  <a:t>ミップレベル</a:t>
                </a:r>
                <a14:m>
                  <m:oMath xmlns:m="http://schemas.openxmlformats.org/officeDocument/2006/math"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ja-JP" altLang="en-US"/>
                  <a:t>で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ja-JP" altLang="en-US"/>
                  <a:t>サンプルを使用</a:t>
                </a:r>
                <a:endParaRPr lang="en-US" altLang="ja-JP"/>
              </a:p>
              <a:p>
                <a:pPr lvl="1"/>
                <a:r>
                  <a:rPr kumimoji="1" lang="ja-JP" altLang="en-US"/>
                  <a:t>ミップレベル</a:t>
                </a:r>
                <a14:m>
                  <m:oMath xmlns:m="http://schemas.openxmlformats.org/officeDocument/2006/math"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kumimoji="1" lang="ja-JP" altLang="en-US"/>
                  <a:t>のサンプルは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p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kumimoji="1" lang="ja-JP" altLang="en-US"/>
                  <a:t>でも</a:t>
                </a:r>
                <a:r>
                  <a:rPr lang="ja-JP" altLang="en-US"/>
                  <a:t>使用</a:t>
                </a:r>
                <a:endParaRPr lang="en-US" altLang="ja-JP"/>
              </a:p>
              <a:p>
                <a:pPr lvl="1"/>
                <a:r>
                  <a:rPr kumimoji="1" lang="ja-JP" altLang="en-US"/>
                  <a:t>テーブルの範囲は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>
                            <a:latin typeface="Cambria Math" panose="02040503050406030204" pitchFamily="18" charset="0"/>
                          </a:rPr>
                          <m:t>0,</m:t>
                        </m:r>
                        <m:f>
                          <m:f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</m:e>
                    </m:d>
                  </m:oMath>
                </a14:m>
                <a:endParaRPr kumimoji="1" lang="en-US" altLang="ja-JP"/>
              </a:p>
              <a:p>
                <a:pPr lvl="1"/>
                <a:r>
                  <a:rPr kumimoji="1" lang="ja-JP" altLang="en-US"/>
                  <a:t>テーブル解像度は</a:t>
                </a:r>
                <a:r>
                  <a:rPr kumimoji="1" lang="en-US" altLang="ja-JP"/>
                  <a:t>64</a:t>
                </a:r>
              </a:p>
              <a:p>
                <a:pPr lvl="1"/>
                <a:r>
                  <a:rPr lang="ja-JP" altLang="en-US"/>
                  <a:t>テーブル数は</a:t>
                </a:r>
                <a:r>
                  <a:rPr lang="en-US" altLang="ja-JP"/>
                  <a:t>192</a:t>
                </a:r>
                <a:endParaRPr kumimoji="1" lang="en-US" altLang="ja-JP"/>
              </a:p>
              <a:p>
                <a:endParaRPr kumimoji="1" lang="ja-JP" altLang="en-US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8A204AFC-8809-FA81-E689-E3F638C091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52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図 4">
            <a:extLst>
              <a:ext uri="{FF2B5EF4-FFF2-40B4-BE49-F238E27FC236}">
                <a16:creationId xmlns:a16="http://schemas.microsoft.com/office/drawing/2014/main" id="{5995A22E-947B-D1F8-4C18-73080271A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6140" y="2751667"/>
            <a:ext cx="2447660" cy="3425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895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842F58-F2F4-328F-4919-D6967E7C0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Beckamnn NDF</a:t>
            </a:r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2C1D8033-2614-9CC3-D8BB-B67BD50E29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endParaRPr kumimoji="1" lang="en-US" altLang="ja-JP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ja-JP" b="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e>
                                <m:sup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</m:fName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func>
                        </m:den>
                      </m:f>
                      <m:func>
                        <m:func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ja-JP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func>
                                    <m:funcPr>
                                      <m:ctrlP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ja-JP" b="0" i="0" smtClean="0">
                                              <a:latin typeface="Cambria Math" panose="02040503050406030204" pitchFamily="18" charset="0"/>
                                            </a:rPr>
                                            <m:t>tan</m:t>
                                          </m:r>
                                        </m:e>
                                        <m:sup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sSub>
                                        <m:sSub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func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p>
                                      <m: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altLang="ja-JP"/>
              </a:p>
              <a:p>
                <a:pPr lvl="8"/>
                <a:endParaRPr kumimoji="1" lang="en-US" altLang="ja-JP"/>
              </a:p>
              <a:p>
                <a:r>
                  <a:rPr lang="ja-JP" altLang="en-US"/>
                  <a:t>重点的サンプリング</a:t>
                </a:r>
                <a:endParaRPr lang="en-US" altLang="ja-JP"/>
              </a:p>
              <a:p>
                <a:endParaRPr kumimoji="1" lang="en-US" altLang="ja-JP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ja-JP" b="0" i="0" smtClean="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=−</m:t>
                      </m:r>
                      <m:sSup>
                        <m:sSup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func>
                        <m:func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ja-JP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e>
                          </m:d>
                        </m:e>
                      </m:func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𝜋𝜉</m:t>
                      </m:r>
                    </m:oMath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func>
                        <m:func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ja-JP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func>
                                <m:func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ja-JP">
                                          <a:latin typeface="Cambria Math" panose="02040503050406030204" pitchFamily="18" charset="0"/>
                                        </a:rPr>
                                        <m:t>tan</m:t>
                                      </m:r>
                                    </m:e>
                                    <m:sup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func>
                            </m:e>
                          </m:rad>
                        </m:den>
                      </m:f>
                    </m:oMath>
                  </m:oMathPara>
                </a14:m>
                <a:endParaRPr lang="en-US" altLang="ja-JP"/>
              </a:p>
              <a:p>
                <a:endParaRPr kumimoji="1" lang="en-US" altLang="ja-JP"/>
              </a:p>
              <a:p>
                <a:endParaRPr kumimoji="1" lang="en-US" altLang="ja-JP"/>
              </a:p>
              <a:p>
                <a:endParaRPr kumimoji="1" lang="ja-JP" altLang="en-US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2C1D8033-2614-9CC3-D8BB-B67BD50E29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73153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D1DF82-40B0-C25C-4C46-F26EB3537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LOD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3DC485-C2EC-1AA4-D3CF-02BE4996C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厳密な</a:t>
            </a:r>
            <a:r>
              <a:rPr kumimoji="1" lang="en-US" altLang="ja-JP"/>
              <a:t>LOD</a:t>
            </a:r>
            <a:r>
              <a:rPr kumimoji="1" lang="ja-JP" altLang="en-US"/>
              <a:t>（他セルの</a:t>
            </a:r>
            <a:r>
              <a:rPr kumimoji="1" lang="en-US" altLang="ja-JP"/>
              <a:t>SDF</a:t>
            </a:r>
            <a:r>
              <a:rPr kumimoji="1" lang="ja-JP" altLang="en-US"/>
              <a:t>の平均）は使用できない</a:t>
            </a:r>
            <a:endParaRPr kumimoji="1" lang="en-US" altLang="ja-JP"/>
          </a:p>
          <a:p>
            <a:r>
              <a:rPr lang="ja-JP" altLang="en-US"/>
              <a:t>少なくとも</a:t>
            </a:r>
            <a:r>
              <a:rPr lang="en-US" altLang="ja-JP"/>
              <a:t>1</a:t>
            </a:r>
            <a:r>
              <a:rPr lang="ja-JP" altLang="en-US"/>
              <a:t>つのセルの</a:t>
            </a:r>
            <a:r>
              <a:rPr lang="en-US" altLang="ja-JP"/>
              <a:t>SDF</a:t>
            </a:r>
            <a:r>
              <a:rPr lang="ja-JP" altLang="en-US"/>
              <a:t>は含むので妥協</a:t>
            </a:r>
            <a:endParaRPr lang="en-US" altLang="ja-JP"/>
          </a:p>
          <a:p>
            <a:pPr lvl="1"/>
            <a:r>
              <a:rPr lang="ja-JP" altLang="en-US"/>
              <a:t>セルに対応する乱数シードを工夫</a:t>
            </a:r>
            <a:endParaRPr lang="en-US" altLang="ja-JP"/>
          </a:p>
          <a:p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4342C784-0C87-1BA5-5000-DAAEB4D214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7816" y="3798094"/>
            <a:ext cx="2810267" cy="2105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471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205300-2F30-72D9-3AE4-BA201B8A3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多様化</a:t>
            </a:r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5880E80F-C691-148F-FA3D-6ACFA451AD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kumimoji="1" lang="en-US" altLang="ja-JP"/>
                  <a:t>SDF</a:t>
                </a:r>
                <a:r>
                  <a:rPr kumimoji="1" lang="ja-JP" altLang="en-US"/>
                  <a:t>を変換することで</a:t>
                </a:r>
                <a:r>
                  <a:rPr lang="ja-JP" altLang="en-US"/>
                  <a:t>少ないテーブル数で多様な見た目を表現</a:t>
                </a:r>
                <a:endParaRPr lang="en-US" altLang="ja-JP"/>
              </a:p>
              <a:p>
                <a:r>
                  <a:rPr kumimoji="1" lang="ja-JP" altLang="en-US"/>
                  <a:t>回転</a:t>
                </a:r>
                <a:endParaRPr kumimoji="1" lang="en-US" altLang="ja-JP"/>
              </a:p>
              <a:p>
                <a:pPr lvl="8"/>
                <a:endParaRPr lang="en-US" altLang="ja-JP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  <m:sup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p>
                      </m:sSubSup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</m:oMath>
                  </m:oMathPara>
                </a14:m>
                <a:endParaRPr kumimoji="1" lang="en-US" altLang="ja-JP"/>
              </a:p>
              <a:p>
                <a:pPr lvl="8"/>
                <a:endParaRPr kumimoji="1" lang="en-US" altLang="ja-JP"/>
              </a:p>
              <a:p>
                <a:r>
                  <a:rPr lang="en-US" altLang="ja-JP"/>
                  <a:t>+</a:t>
                </a:r>
                <a:r>
                  <a:rPr lang="ja-JP" altLang="en-US"/>
                  <a:t>スケーリング</a:t>
                </a:r>
                <a:endParaRPr lang="en-US" altLang="ja-JP"/>
              </a:p>
              <a:p>
                <a:pPr lvl="8"/>
                <a:endParaRPr kumimoji="1" lang="en-US" altLang="ja-JP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  <m:sup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𝜃𝛼</m:t>
                          </m:r>
                        </m:sup>
                      </m:sSubSup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𝑑𝑖𝑐𝑡</m:t>
                              </m:r>
                            </m:sub>
                            <m:sup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sub>
                            <m:sup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acc>
                                <m:accPr>
                                  <m:chr m:val="̃"/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acc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Sup>
                        <m:sSubSup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  <m:sup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ja-JP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ja-JP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ja-JP" i="1">
                                            <a:latin typeface="Cambria Math" panose="02040503050406030204" pitchFamily="18" charset="0"/>
                                          </a:rPr>
                                          <m:t>𝑑𝑖𝑐𝑡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r>
                                  <a:rPr lang="en-US" altLang="ja-JP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ja-JP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  <m:t>𝑑𝑖𝑐𝑡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altLang="ja-JP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ja-JP"/>
              </a:p>
              <a:p>
                <a:endParaRPr lang="en-US" altLang="ja-JP"/>
              </a:p>
              <a:p>
                <a:endParaRPr kumimoji="1" lang="ja-JP" altLang="en-US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5880E80F-C691-148F-FA3D-6ACFA451AD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8909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42F9CB-5089-3B3A-6B18-0FEBAC869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Patch BRDF</a:t>
            </a:r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881EE28B-233F-C247-81E1-886470F872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endParaRPr kumimoji="1" lang="en-US" altLang="ja-JP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𝒫</m:t>
                          </m:r>
                        </m:sub>
                      </m:sSub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𝒫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</m:oMath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ja-JP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1,2</m:t>
                              </m:r>
                              <m:f>
                                <m:f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  <m: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𝑔</m:t>
                                          </m:r>
                                        </m:sub>
                                      </m:sSub>
                                    </m:e>
                                  </m:d>
                                  <m:d>
                                    <m:dPr>
                                      <m:ctrlP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𝑔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d>
                                    <m:dPr>
                                      <m:ctrlP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en-US" altLang="ja-JP" b="0" i="1" smtClean="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sSub>
                                        <m:sSub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altLang="ja-JP"/>
              </a:p>
              <a:p>
                <a:pPr lvl="8"/>
                <a:endParaRPr lang="en-US" altLang="ja-JP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𝒫</m:t>
                        </m:r>
                      </m:sub>
                    </m:sSub>
                  </m:oMath>
                </a14:m>
                <a:r>
                  <a:rPr lang="ja-JP" altLang="en-US"/>
                  <a:t>はパッチ内のセルでの</a:t>
                </a:r>
                <a:r>
                  <a:rPr lang="en-US" altLang="ja-JP"/>
                  <a:t>SDF</a:t>
                </a:r>
                <a:r>
                  <a:rPr lang="ja-JP" altLang="en-US"/>
                  <a:t>の加重和で計算</a:t>
                </a:r>
                <a:endParaRPr lang="en-US" altLang="ja-JP"/>
              </a:p>
              <a:p>
                <a:pPr lvl="1"/>
                <a:endParaRPr lang="en-US" altLang="ja-JP"/>
              </a:p>
              <a:p>
                <a:endParaRPr lang="en-US" altLang="ja-JP"/>
              </a:p>
              <a:p>
                <a:endParaRPr kumimoji="1" lang="ja-JP" altLang="en-US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881EE28B-233F-C247-81E1-886470F872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b="-350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26311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643A6B-77B9-5F36-A68F-33BBF6D7E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重点的サンプリング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192FFE88-35DE-C479-155A-63F246AD7E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ja-JP" altLang="en-US"/>
                  <a:t>周辺化</a:t>
                </a:r>
                <a:r>
                  <a:rPr lang="en-US" altLang="ja-JP"/>
                  <a:t>SDF</a:t>
                </a:r>
                <a:r>
                  <a:rPr lang="ja-JP" altLang="en-US"/>
                  <a:t>の</a:t>
                </a:r>
                <a:r>
                  <a:rPr lang="en-US" altLang="ja-JP"/>
                  <a:t>CDF</a:t>
                </a:r>
                <a:r>
                  <a:rPr lang="ja-JP" altLang="en-US"/>
                  <a:t>でサンプリングを</a:t>
                </a:r>
                <a:r>
                  <a:rPr lang="en-US" altLang="ja-JP"/>
                  <a:t>2</a:t>
                </a:r>
                <a:r>
                  <a:rPr lang="ja-JP" altLang="en-US"/>
                  <a:t>回</a:t>
                </a:r>
                <a:endParaRPr lang="en-US" altLang="ja-JP"/>
              </a:p>
              <a:p>
                <a:r>
                  <a:rPr kumimoji="1" lang="ja-JP" altLang="en-US"/>
                  <a:t>スケーリング＆回転</a:t>
                </a:r>
                <a:endParaRPr kumimoji="1" lang="en-US" altLang="ja-JP"/>
              </a:p>
              <a:p>
                <a:endParaRPr kumimoji="1" lang="en-US" altLang="ja-JP"/>
              </a:p>
              <a:p>
                <a:r>
                  <a:rPr lang="en-US" altLang="ja-JP"/>
                  <a:t>PDF</a:t>
                </a:r>
                <a:endParaRPr kumimoji="1" lang="en-US" altLang="ja-JP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ja-JP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kumimoji="1" lang="en-US" altLang="ja-JP"/>
              </a:p>
              <a:p>
                <a:pPr lvl="8"/>
                <a:endParaRPr lang="en-US" altLang="ja-JP" b="0" i="1">
                  <a:latin typeface="Cambria Math" panose="02040503050406030204" pitchFamily="18" charset="0"/>
                </a:endParaRPr>
              </a:p>
              <a:p>
                <a:r>
                  <a:rPr lang="en-US" altLang="ja-JP">
                    <a:latin typeface="Cambria Math" panose="02040503050406030204" pitchFamily="18" charset="0"/>
                  </a:rPr>
                  <a:t>V-cavity</a:t>
                </a:r>
                <a:r>
                  <a:rPr lang="ja-JP" altLang="en-US">
                    <a:latin typeface="Cambria Math" panose="02040503050406030204" pitchFamily="18" charset="0"/>
                  </a:rPr>
                  <a:t>の幾何項なので投影面積を考慮したサンプリングが可能</a:t>
                </a:r>
                <a:endParaRPr lang="en-US" altLang="ja-JP">
                  <a:latin typeface="Cambria Math" panose="02040503050406030204" pitchFamily="18" charset="0"/>
                </a:endParaRPr>
              </a:p>
              <a:p>
                <a:pPr lvl="8"/>
                <a:endParaRPr lang="en-US" altLang="ja-JP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ja-JP">
                  <a:latin typeface="Cambria Math" panose="02040503050406030204" pitchFamily="18" charset="0"/>
                </a:endParaRPr>
              </a:p>
              <a:p>
                <a:pPr lvl="8"/>
                <a:endParaRPr lang="en-US" altLang="ja-JP" b="0" i="1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,−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en-US" altLang="ja-JP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𝑝𝑟𝑜𝑗𝐴𝑟𝑒𝑎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⟨"/>
                            <m:endChr m:val="⟩"/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𝑜</m:t>
                                </m:r>
                              </m:sub>
                            </m:sSub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∙</m:t>
                            </m:r>
                            <m:sSubSup>
                              <m:sSubSupPr>
                                <m:ctrlPr>
                                  <a:rPr lang="en-US" altLang="ja-JP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  <m:sup>
                                <m:r>
                                  <a:rPr lang="en-US" altLang="ja-JP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bSup>
                          </m:e>
                        </m:d>
                      </m:num>
                      <m:den>
                        <m:d>
                          <m:dPr>
                            <m:begChr m:val="⟨"/>
                            <m:endChr m:val="⟩"/>
                            <m:ctrlPr>
                              <a:rPr lang="en-US" altLang="ja-JP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𝑜</m:t>
                                </m:r>
                              </m:sub>
                            </m:sSub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⟨"/>
                            <m:endChr m:val="⟩"/>
                            <m:ctrlPr>
                              <a:rPr lang="en-US" altLang="ja-JP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𝑜</m:t>
                                </m:r>
                              </m:sub>
                            </m:sSub>
                            <m:r>
                              <a:rPr lang="en-US" altLang="ja-JP" i="1">
                                <a:latin typeface="Cambria Math" panose="02040503050406030204" pitchFamily="18" charset="0"/>
                              </a:rPr>
                              <m:t>∙</m:t>
                            </m:r>
                            <m:sSubSup>
                              <m:sSubSupPr>
                                <m:ctrlPr>
                                  <a:rPr lang="en-US" altLang="ja-JP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  <m:sup>
                                <m:r>
                                  <a:rPr lang="en-US" altLang="ja-JP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bSup>
                          </m:e>
                        </m:d>
                      </m:den>
                    </m:f>
                  </m:oMath>
                </a14:m>
                <a:r>
                  <a:rPr lang="ja-JP" altLang="en-US">
                    <a:latin typeface="Cambria Math" panose="02040503050406030204" pitchFamily="18" charset="0"/>
                  </a:rPr>
                  <a:t> で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altLang="ja-JP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ja-JP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b="0" i="0" smtClean="0">
                        <a:latin typeface="Cambria Math" panose="02040503050406030204" pitchFamily="18" charset="0"/>
                      </a:rPr>
                      <m:t>reflect</m:t>
                    </m:r>
                    <m:d>
                      <m:dPr>
                        <m:ctrlPr>
                          <a:rPr lang="en-US" altLang="ja-JP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  <m:r>
                          <a:rPr lang="en-US" altLang="ja-JP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ja-JP">
                    <a:latin typeface="Cambria Math" panose="02040503050406030204" pitchFamily="18" charset="0"/>
                  </a:rPr>
                  <a:t> </a:t>
                </a:r>
                <a:r>
                  <a:rPr lang="ja-JP" altLang="en-US">
                    <a:latin typeface="Cambria Math" panose="02040503050406030204" pitchFamily="18" charset="0"/>
                  </a:rPr>
                  <a:t>なので</a:t>
                </a:r>
                <a:endParaRPr lang="en-US" altLang="ja-JP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en-US" altLang="ja-JP">
                  <a:latin typeface="Cambria Math" panose="02040503050406030204" pitchFamily="18" charset="0"/>
                </a:endParaRPr>
              </a:p>
              <a:p>
                <a:endParaRPr lang="en-US" altLang="ja-JP">
                  <a:latin typeface="Cambria Math" panose="02040503050406030204" pitchFamily="18" charset="0"/>
                </a:endParaRPr>
              </a:p>
              <a:p>
                <a:endParaRPr lang="en-US" altLang="ja-JP">
                  <a:latin typeface="Cambria Math" panose="02040503050406030204" pitchFamily="18" charset="0"/>
                </a:endParaRPr>
              </a:p>
              <a:p>
                <a:endParaRPr lang="en-US" altLang="ja-JP" b="0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192FFE88-35DE-C479-155A-63F246AD7E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406" t="-224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5910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A7C6C87D-204F-7876-A531-9686679968E8}"/>
                  </a:ext>
                </a:extLst>
              </p:cNvPr>
              <p:cNvSpPr txBox="1"/>
              <p:nvPr/>
            </p:nvSpPr>
            <p:spPr>
              <a:xfrm>
                <a:off x="6647341" y="2224088"/>
                <a:ext cx="5544659" cy="45208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𝑢</m:t>
                      </m:r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𝑢</m:t>
                      </m:r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𝑢</m:t>
                      </m:r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𝑢</m:t>
                      </m:r>
                      <m:sSub>
                        <m:sSub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num>
                                  <m:den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kumimoji="1" lang="en-US" altLang="ja-JP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1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1" lang="en-US" altLang="ja-JP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1" lang="en-US" altLang="ja-JP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1" lang="en-US" altLang="ja-JP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  <m:oMath xmlns:m="http://schemas.openxmlformats.org/officeDocument/2006/math">
                      <m:r>
                        <a:rPr kumimoji="1" lang="en-US" altLang="ja-JP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kumimoji="1" lang="en-US" altLang="ja-JP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1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kumimoji="1" lang="en-US" altLang="ja-JP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ja-JP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1" lang="en-US" altLang="ja-JP" sz="1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kumimoji="1" lang="en-US" altLang="ja-JP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kumimoji="1" lang="en-US" altLang="ja-JP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kumimoji="1" lang="en-US" altLang="ja-JP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kumimoji="1" lang="en-US" altLang="ja-JP" sz="16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kumimoji="1" lang="en-US" altLang="ja-JP" sz="16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kumimoji="1" lang="en-US" altLang="ja-JP" sz="1600" i="1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kumimoji="1" lang="en-US" altLang="ja-JP" sz="16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kumimoji="1" lang="en-US" altLang="ja-JP" sz="1600"/>
              </a:p>
              <a:p>
                <a:endParaRPr kumimoji="1" lang="ja-JP" altLang="en-US" sz="1600"/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A7C6C87D-204F-7876-A531-968667996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7341" y="2224088"/>
                <a:ext cx="5544659" cy="45208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タイトル 26">
            <a:extLst>
              <a:ext uri="{FF2B5EF4-FFF2-40B4-BE49-F238E27FC236}">
                <a16:creationId xmlns:a16="http://schemas.microsoft.com/office/drawing/2014/main" id="{273256F5-73B1-43EE-7FF3-8DD2BD70C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パッチ</a:t>
            </a:r>
          </a:p>
        </p:txBody>
      </p:sp>
      <p:sp>
        <p:nvSpPr>
          <p:cNvPr id="31" name="コンテンツ プレースホルダー 30">
            <a:extLst>
              <a:ext uri="{FF2B5EF4-FFF2-40B4-BE49-F238E27FC236}">
                <a16:creationId xmlns:a16="http://schemas.microsoft.com/office/drawing/2014/main" id="{5324C4A1-BBB2-32A1-56C3-679EB6F0CD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sz="2400"/>
              <a:t>物体表面を</a:t>
            </a:r>
            <a:r>
              <a:rPr lang="en-US" altLang="ja-JP" sz="2400"/>
              <a:t>2</a:t>
            </a:r>
            <a:r>
              <a:rPr lang="ja-JP" altLang="en-US" sz="2400"/>
              <a:t>次元でパラメタライズ</a:t>
            </a:r>
            <a:endParaRPr lang="en-US" altLang="ja-JP" sz="2400"/>
          </a:p>
          <a:p>
            <a:pPr lvl="1"/>
            <a:r>
              <a:rPr lang="ja-JP" altLang="en-US" sz="2000"/>
              <a:t>⇒ </a:t>
            </a:r>
            <a:r>
              <a:rPr lang="en-US" altLang="ja-JP" sz="2000"/>
              <a:t>UV</a:t>
            </a:r>
          </a:p>
          <a:p>
            <a:r>
              <a:rPr lang="ja-JP" altLang="en-US" sz="2400"/>
              <a:t>ピクセルに対応する</a:t>
            </a:r>
            <a:r>
              <a:rPr lang="en-US" altLang="ja-JP" sz="2400"/>
              <a:t>UV</a:t>
            </a:r>
            <a:r>
              <a:rPr lang="ja-JP" altLang="en-US" sz="2400"/>
              <a:t>の範囲がパッチ</a:t>
            </a:r>
            <a:endParaRPr lang="en-US" altLang="ja-JP" sz="2400"/>
          </a:p>
          <a:p>
            <a:r>
              <a:rPr lang="en-US" altLang="ja-JP" sz="2400"/>
              <a:t>uv</a:t>
            </a:r>
            <a:r>
              <a:rPr lang="ja-JP" altLang="en-US" sz="2400"/>
              <a:t>の変化率に対する位置の変化率が必要</a:t>
            </a:r>
            <a:endParaRPr lang="en-US" altLang="ja-JP" sz="2400"/>
          </a:p>
          <a:p>
            <a:endParaRPr lang="ja-JP" altLang="en-US" sz="2400"/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498EE16-0E9F-F97D-8B5D-C8D6414A6A76}"/>
              </a:ext>
            </a:extLst>
          </p:cNvPr>
          <p:cNvCxnSpPr>
            <a:cxnSpLocks/>
          </p:cNvCxnSpPr>
          <p:nvPr/>
        </p:nvCxnSpPr>
        <p:spPr>
          <a:xfrm flipV="1">
            <a:off x="2241550" y="4648200"/>
            <a:ext cx="679450" cy="5778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34D64C78-0FB9-53AD-8948-42D8B9750120}"/>
                  </a:ext>
                </a:extLst>
              </p:cNvPr>
              <p:cNvSpPr txBox="1"/>
              <p:nvPr/>
            </p:nvSpPr>
            <p:spPr>
              <a:xfrm>
                <a:off x="2165464" y="4197518"/>
                <a:ext cx="504689" cy="6190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num>
                        <m:den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den>
                      </m:f>
                    </m:oMath>
                  </m:oMathPara>
                </a14:m>
                <a:endParaRPr kumimoji="1" lang="ja-JP" altLang="en-US"/>
              </a:p>
            </p:txBody>
          </p:sp>
        </mc:Choice>
        <mc:Fallback xmlns=""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34D64C78-0FB9-53AD-8948-42D8B9750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5464" y="4197518"/>
                <a:ext cx="504689" cy="61901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直線コネクタ 42">
            <a:extLst>
              <a:ext uri="{FF2B5EF4-FFF2-40B4-BE49-F238E27FC236}">
                <a16:creationId xmlns:a16="http://schemas.microsoft.com/office/drawing/2014/main" id="{D7E394D6-F30B-0DCA-95B9-C27D4904AD51}"/>
              </a:ext>
            </a:extLst>
          </p:cNvPr>
          <p:cNvCxnSpPr>
            <a:cxnSpLocks/>
          </p:cNvCxnSpPr>
          <p:nvPr/>
        </p:nvCxnSpPr>
        <p:spPr>
          <a:xfrm>
            <a:off x="2172494" y="5264944"/>
            <a:ext cx="740569" cy="49212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コネクタ 45">
            <a:extLst>
              <a:ext uri="{FF2B5EF4-FFF2-40B4-BE49-F238E27FC236}">
                <a16:creationId xmlns:a16="http://schemas.microsoft.com/office/drawing/2014/main" id="{3EBA83E1-446D-A3D4-BE17-6C32E6B4ED60}"/>
              </a:ext>
            </a:extLst>
          </p:cNvPr>
          <p:cNvCxnSpPr>
            <a:cxnSpLocks/>
          </p:cNvCxnSpPr>
          <p:nvPr/>
        </p:nvCxnSpPr>
        <p:spPr>
          <a:xfrm>
            <a:off x="2386806" y="5106988"/>
            <a:ext cx="539444" cy="6464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楕円 47">
            <a:extLst>
              <a:ext uri="{FF2B5EF4-FFF2-40B4-BE49-F238E27FC236}">
                <a16:creationId xmlns:a16="http://schemas.microsoft.com/office/drawing/2014/main" id="{3A2EB24E-9C15-4A87-D99D-BAD2333A8867}"/>
              </a:ext>
            </a:extLst>
          </p:cNvPr>
          <p:cNvSpPr/>
          <p:nvPr/>
        </p:nvSpPr>
        <p:spPr>
          <a:xfrm>
            <a:off x="2085341" y="5195443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D6481A30-0929-FCA8-98DE-30E558D2379A}"/>
              </a:ext>
            </a:extLst>
          </p:cNvPr>
          <p:cNvSpPr/>
          <p:nvPr/>
        </p:nvSpPr>
        <p:spPr>
          <a:xfrm>
            <a:off x="2831000" y="5663136"/>
            <a:ext cx="180000" cy="180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7CC784C7-A8A3-944E-962E-CFD3632BD943}"/>
              </a:ext>
            </a:extLst>
          </p:cNvPr>
          <p:cNvSpPr txBox="1"/>
          <p:nvPr/>
        </p:nvSpPr>
        <p:spPr>
          <a:xfrm>
            <a:off x="2598935" y="5086550"/>
            <a:ext cx="3307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投影すれば</a:t>
            </a:r>
            <a:r>
              <a:rPr kumimoji="1" lang="en-US" altLang="ja-JP"/>
              <a:t>u</a:t>
            </a:r>
            <a:r>
              <a:rPr kumimoji="1" lang="ja-JP" altLang="en-US"/>
              <a:t>の変化量が分かる</a:t>
            </a:r>
          </a:p>
        </p:txBody>
      </p:sp>
    </p:spTree>
    <p:extLst>
      <p:ext uri="{BB962C8B-B14F-4D97-AF65-F5344CB8AC3E}">
        <p14:creationId xmlns:p14="http://schemas.microsoft.com/office/powerpoint/2010/main" val="38100997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884D1-2776-663D-78D9-B87EBF4D4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タイトル 26">
            <a:extLst>
              <a:ext uri="{FF2B5EF4-FFF2-40B4-BE49-F238E27FC236}">
                <a16:creationId xmlns:a16="http://schemas.microsoft.com/office/drawing/2014/main" id="{8428CD96-DDBA-2770-8C91-DF21BC491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パッチ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コンテンツ プレースホルダー 30">
                <a:extLst>
                  <a:ext uri="{FF2B5EF4-FFF2-40B4-BE49-F238E27FC236}">
                    <a16:creationId xmlns:a16="http://schemas.microsoft.com/office/drawing/2014/main" id="{B6F14DC5-3FD8-0A05-A6B0-57E6B5B912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ja-JP" sz="2400"/>
                  <a:t>uv</a:t>
                </a:r>
                <a:r>
                  <a:rPr lang="ja-JP" altLang="en-US" sz="2400"/>
                  <a:t>マッピングのされ方で見た目が変わってしまう</a:t>
                </a:r>
                <a:endParaRPr lang="en-US" altLang="ja-JP" sz="2400"/>
              </a:p>
              <a:p>
                <a:pPr marL="0" indent="0">
                  <a:buNone/>
                </a:pPr>
                <a:r>
                  <a:rPr lang="ja-JP" altLang="en-US" sz="2400"/>
                  <a:t>⇒ </a:t>
                </a:r>
                <a:r>
                  <a:rPr lang="en-US" altLang="ja-JP" sz="2400"/>
                  <a:t>uv</a:t>
                </a:r>
                <a:r>
                  <a:rPr lang="ja-JP" altLang="en-US" sz="2400">
                    <a:latin typeface="Cambria Math" panose="02040503050406030204" pitchFamily="18" charset="0"/>
                  </a:rPr>
                  <a:t>を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ja-JP" sz="2400" b="0" i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ja-JP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num>
                              <m:den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den>
                            </m:f>
                          </m:e>
                        </m:d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num>
                              <m:den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den>
                            </m:f>
                          </m:e>
                        </m:d>
                      </m:e>
                    </m:d>
                  </m:oMath>
                </a14:m>
                <a:r>
                  <a:rPr lang="ja-JP" altLang="en-US" sz="2400"/>
                  <a:t>で乗算 </a:t>
                </a:r>
                <a:r>
                  <a:rPr lang="en-US" altLang="ja-JP" sz="2400"/>
                  <a:t>&amp;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𝑝</m:t>
                        </m:r>
                      </m:num>
                      <m:den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𝑢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𝑝</m:t>
                        </m:r>
                      </m:num>
                      <m:den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den>
                    </m:f>
                  </m:oMath>
                </a14:m>
                <a:r>
                  <a:rPr lang="ja-JP" altLang="en-US" sz="2400"/>
                  <a:t>は正規化</a:t>
                </a:r>
                <a:endParaRPr lang="en-US" altLang="ja-JP" sz="2400"/>
              </a:p>
            </p:txBody>
          </p:sp>
        </mc:Choice>
        <mc:Fallback>
          <p:sp>
            <p:nvSpPr>
              <p:cNvPr id="31" name="コンテンツ プレースホルダー 30">
                <a:extLst>
                  <a:ext uri="{FF2B5EF4-FFF2-40B4-BE49-F238E27FC236}">
                    <a16:creationId xmlns:a16="http://schemas.microsoft.com/office/drawing/2014/main" id="{B6F14DC5-3FD8-0A05-A6B0-57E6B5B912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6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二等辺三角形 1">
            <a:extLst>
              <a:ext uri="{FF2B5EF4-FFF2-40B4-BE49-F238E27FC236}">
                <a16:creationId xmlns:a16="http://schemas.microsoft.com/office/drawing/2014/main" id="{30FB154D-2FA9-B53F-A9E4-B8EC5467891D}"/>
              </a:ext>
            </a:extLst>
          </p:cNvPr>
          <p:cNvSpPr/>
          <p:nvPr/>
        </p:nvSpPr>
        <p:spPr>
          <a:xfrm>
            <a:off x="3681136" y="3712807"/>
            <a:ext cx="806334" cy="695116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二等辺三角形 3">
            <a:extLst>
              <a:ext uri="{FF2B5EF4-FFF2-40B4-BE49-F238E27FC236}">
                <a16:creationId xmlns:a16="http://schemas.microsoft.com/office/drawing/2014/main" id="{7BCC009D-A25F-9087-D460-A6616C4FB05E}"/>
              </a:ext>
            </a:extLst>
          </p:cNvPr>
          <p:cNvSpPr/>
          <p:nvPr/>
        </p:nvSpPr>
        <p:spPr>
          <a:xfrm>
            <a:off x="6030421" y="3551917"/>
            <a:ext cx="911019" cy="785361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二等辺三角形 4">
            <a:extLst>
              <a:ext uri="{FF2B5EF4-FFF2-40B4-BE49-F238E27FC236}">
                <a16:creationId xmlns:a16="http://schemas.microsoft.com/office/drawing/2014/main" id="{6D064910-FFA4-AC49-FD4B-59C2986DA0E6}"/>
              </a:ext>
            </a:extLst>
          </p:cNvPr>
          <p:cNvSpPr/>
          <p:nvPr/>
        </p:nvSpPr>
        <p:spPr>
          <a:xfrm>
            <a:off x="6030421" y="3879639"/>
            <a:ext cx="2376000" cy="2048278"/>
          </a:xfrm>
          <a:prstGeom prst="triangl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二等辺三角形 5">
            <a:extLst>
              <a:ext uri="{FF2B5EF4-FFF2-40B4-BE49-F238E27FC236}">
                <a16:creationId xmlns:a16="http://schemas.microsoft.com/office/drawing/2014/main" id="{E35BED27-9988-053C-1943-9A6DCB3C0D83}"/>
              </a:ext>
            </a:extLst>
          </p:cNvPr>
          <p:cNvSpPr/>
          <p:nvPr/>
        </p:nvSpPr>
        <p:spPr>
          <a:xfrm>
            <a:off x="3653991" y="5100705"/>
            <a:ext cx="806334" cy="695116"/>
          </a:xfrm>
          <a:prstGeom prst="triangl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93E928B6-2469-5815-95B6-9892F21E67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615815"/>
              </p:ext>
            </p:extLst>
          </p:nvPr>
        </p:nvGraphicFramePr>
        <p:xfrm>
          <a:off x="6030421" y="3551917"/>
          <a:ext cx="2376000" cy="23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2075134690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427897118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827347061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69407080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2944887014"/>
                    </a:ext>
                  </a:extLst>
                </a:gridCol>
                <a:gridCol w="396000">
                  <a:extLst>
                    <a:ext uri="{9D8B030D-6E8A-4147-A177-3AD203B41FA5}">
                      <a16:colId xmlns:a16="http://schemas.microsoft.com/office/drawing/2014/main" val="3502176028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197956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7833558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61109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003906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438151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057252"/>
                  </a:ext>
                </a:extLst>
              </a:tr>
            </a:tbl>
          </a:graphicData>
        </a:graphic>
      </p:graphicFrame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53CEB4A-9677-CE2C-30AD-7CE07A765E7D}"/>
              </a:ext>
            </a:extLst>
          </p:cNvPr>
          <p:cNvSpPr txBox="1"/>
          <p:nvPr/>
        </p:nvSpPr>
        <p:spPr>
          <a:xfrm>
            <a:off x="3502890" y="600365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ワールド</a:t>
            </a:r>
          </a:p>
        </p:txBody>
      </p:sp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7909FCB8-A044-CFE1-B277-E400D1D740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9763066"/>
              </p:ext>
            </p:extLst>
          </p:nvPr>
        </p:nvGraphicFramePr>
        <p:xfrm>
          <a:off x="3653991" y="5123876"/>
          <a:ext cx="806334" cy="6719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4389">
                  <a:extLst>
                    <a:ext uri="{9D8B030D-6E8A-4147-A177-3AD203B41FA5}">
                      <a16:colId xmlns:a16="http://schemas.microsoft.com/office/drawing/2014/main" val="2075134690"/>
                    </a:ext>
                  </a:extLst>
                </a:gridCol>
                <a:gridCol w="134389">
                  <a:extLst>
                    <a:ext uri="{9D8B030D-6E8A-4147-A177-3AD203B41FA5}">
                      <a16:colId xmlns:a16="http://schemas.microsoft.com/office/drawing/2014/main" val="427897118"/>
                    </a:ext>
                  </a:extLst>
                </a:gridCol>
                <a:gridCol w="134389">
                  <a:extLst>
                    <a:ext uri="{9D8B030D-6E8A-4147-A177-3AD203B41FA5}">
                      <a16:colId xmlns:a16="http://schemas.microsoft.com/office/drawing/2014/main" val="2827347061"/>
                    </a:ext>
                  </a:extLst>
                </a:gridCol>
                <a:gridCol w="134389">
                  <a:extLst>
                    <a:ext uri="{9D8B030D-6E8A-4147-A177-3AD203B41FA5}">
                      <a16:colId xmlns:a16="http://schemas.microsoft.com/office/drawing/2014/main" val="369407080"/>
                    </a:ext>
                  </a:extLst>
                </a:gridCol>
                <a:gridCol w="134389">
                  <a:extLst>
                    <a:ext uri="{9D8B030D-6E8A-4147-A177-3AD203B41FA5}">
                      <a16:colId xmlns:a16="http://schemas.microsoft.com/office/drawing/2014/main" val="2944887014"/>
                    </a:ext>
                  </a:extLst>
                </a:gridCol>
                <a:gridCol w="134389">
                  <a:extLst>
                    <a:ext uri="{9D8B030D-6E8A-4147-A177-3AD203B41FA5}">
                      <a16:colId xmlns:a16="http://schemas.microsoft.com/office/drawing/2014/main" val="3502176028"/>
                    </a:ext>
                  </a:extLst>
                </a:gridCol>
              </a:tblGrid>
              <a:tr h="134389"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extLst>
                  <a:ext uri="{0D108BD9-81ED-4DB2-BD59-A6C34878D82A}">
                    <a16:rowId xmlns:a16="http://schemas.microsoft.com/office/drawing/2014/main" val="3077833558"/>
                  </a:ext>
                </a:extLst>
              </a:tr>
              <a:tr h="134389"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extLst>
                  <a:ext uri="{0D108BD9-81ED-4DB2-BD59-A6C34878D82A}">
                    <a16:rowId xmlns:a16="http://schemas.microsoft.com/office/drawing/2014/main" val="1990611097"/>
                  </a:ext>
                </a:extLst>
              </a:tr>
              <a:tr h="134389"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extLst>
                  <a:ext uri="{0D108BD9-81ED-4DB2-BD59-A6C34878D82A}">
                    <a16:rowId xmlns:a16="http://schemas.microsoft.com/office/drawing/2014/main" val="1850039062"/>
                  </a:ext>
                </a:extLst>
              </a:tr>
              <a:tr h="134389"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extLst>
                  <a:ext uri="{0D108BD9-81ED-4DB2-BD59-A6C34878D82A}">
                    <a16:rowId xmlns:a16="http://schemas.microsoft.com/office/drawing/2014/main" val="3104381512"/>
                  </a:ext>
                </a:extLst>
              </a:tr>
              <a:tr h="134389"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tc>
                  <a:txBody>
                    <a:bodyPr/>
                    <a:lstStyle/>
                    <a:p>
                      <a:endParaRPr kumimoji="1" lang="ja-JP" altLang="en-US" sz="600"/>
                    </a:p>
                  </a:txBody>
                  <a:tcPr marL="31032" marR="31032" marT="15516" marB="15516"/>
                </a:tc>
                <a:extLst>
                  <a:ext uri="{0D108BD9-81ED-4DB2-BD59-A6C34878D82A}">
                    <a16:rowId xmlns:a16="http://schemas.microsoft.com/office/drawing/2014/main" val="2935057252"/>
                  </a:ext>
                </a:extLst>
              </a:tr>
            </a:tbl>
          </a:graphicData>
        </a:graphic>
      </p:graphicFrame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7BFDB4FC-A1AE-0BD7-6722-434DDD63E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0772617"/>
              </p:ext>
            </p:extLst>
          </p:nvPr>
        </p:nvGraphicFramePr>
        <p:xfrm>
          <a:off x="3681134" y="3712805"/>
          <a:ext cx="1074024" cy="7160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8008">
                  <a:extLst>
                    <a:ext uri="{9D8B030D-6E8A-4147-A177-3AD203B41FA5}">
                      <a16:colId xmlns:a16="http://schemas.microsoft.com/office/drawing/2014/main" val="2075134690"/>
                    </a:ext>
                  </a:extLst>
                </a:gridCol>
                <a:gridCol w="358008">
                  <a:extLst>
                    <a:ext uri="{9D8B030D-6E8A-4147-A177-3AD203B41FA5}">
                      <a16:colId xmlns:a16="http://schemas.microsoft.com/office/drawing/2014/main" val="427897118"/>
                    </a:ext>
                  </a:extLst>
                </a:gridCol>
                <a:gridCol w="358008">
                  <a:extLst>
                    <a:ext uri="{9D8B030D-6E8A-4147-A177-3AD203B41FA5}">
                      <a16:colId xmlns:a16="http://schemas.microsoft.com/office/drawing/2014/main" val="2827347061"/>
                    </a:ext>
                  </a:extLst>
                </a:gridCol>
              </a:tblGrid>
              <a:tr h="358008">
                <a:tc>
                  <a:txBody>
                    <a:bodyPr/>
                    <a:lstStyle/>
                    <a:p>
                      <a:endParaRPr kumimoji="1" lang="ja-JP" altLang="en-US" sz="1700"/>
                    </a:p>
                  </a:txBody>
                  <a:tcPr marL="82666" marR="82666" marT="41334" marB="41334"/>
                </a:tc>
                <a:tc>
                  <a:txBody>
                    <a:bodyPr/>
                    <a:lstStyle/>
                    <a:p>
                      <a:endParaRPr kumimoji="1" lang="ja-JP" altLang="en-US" sz="1700"/>
                    </a:p>
                  </a:txBody>
                  <a:tcPr marL="82666" marR="82666" marT="41334" marB="41334"/>
                </a:tc>
                <a:tc>
                  <a:txBody>
                    <a:bodyPr/>
                    <a:lstStyle/>
                    <a:p>
                      <a:endParaRPr kumimoji="1" lang="ja-JP" altLang="en-US" sz="1700"/>
                    </a:p>
                  </a:txBody>
                  <a:tcPr marL="82666" marR="82666" marT="41334" marB="41334"/>
                </a:tc>
                <a:extLst>
                  <a:ext uri="{0D108BD9-81ED-4DB2-BD59-A6C34878D82A}">
                    <a16:rowId xmlns:a16="http://schemas.microsoft.com/office/drawing/2014/main" val="4081197956"/>
                  </a:ext>
                </a:extLst>
              </a:tr>
              <a:tr h="358008">
                <a:tc>
                  <a:txBody>
                    <a:bodyPr/>
                    <a:lstStyle/>
                    <a:p>
                      <a:endParaRPr kumimoji="1" lang="ja-JP" altLang="en-US" sz="1700"/>
                    </a:p>
                  </a:txBody>
                  <a:tcPr marL="82666" marR="82666" marT="41334" marB="41334"/>
                </a:tc>
                <a:tc>
                  <a:txBody>
                    <a:bodyPr/>
                    <a:lstStyle/>
                    <a:p>
                      <a:endParaRPr kumimoji="1" lang="ja-JP" altLang="en-US" sz="1700"/>
                    </a:p>
                  </a:txBody>
                  <a:tcPr marL="82666" marR="82666" marT="41334" marB="41334"/>
                </a:tc>
                <a:tc>
                  <a:txBody>
                    <a:bodyPr/>
                    <a:lstStyle/>
                    <a:p>
                      <a:endParaRPr kumimoji="1" lang="ja-JP" altLang="en-US" sz="1700"/>
                    </a:p>
                  </a:txBody>
                  <a:tcPr marL="82666" marR="82666" marT="41334" marB="41334"/>
                </a:tc>
                <a:extLst>
                  <a:ext uri="{0D108BD9-81ED-4DB2-BD59-A6C34878D82A}">
                    <a16:rowId xmlns:a16="http://schemas.microsoft.com/office/drawing/2014/main" val="3077833558"/>
                  </a:ext>
                </a:extLst>
              </a:tr>
            </a:tbl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85C4CA7-59DD-5E67-6D01-DD33298553C4}"/>
              </a:ext>
            </a:extLst>
          </p:cNvPr>
          <p:cNvSpPr txBox="1"/>
          <p:nvPr/>
        </p:nvSpPr>
        <p:spPr>
          <a:xfrm>
            <a:off x="6986627" y="6123543"/>
            <a:ext cx="463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UV</a:t>
            </a:r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00052E0-66E0-BA6C-CB44-8B00AF5C925A}"/>
              </a:ext>
            </a:extLst>
          </p:cNvPr>
          <p:cNvSpPr txBox="1"/>
          <p:nvPr/>
        </p:nvSpPr>
        <p:spPr>
          <a:xfrm>
            <a:off x="1188720" y="4477545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何もしないと</a:t>
            </a:r>
            <a:br>
              <a:rPr kumimoji="1" lang="en-US" altLang="ja-JP"/>
            </a:br>
            <a:r>
              <a:rPr kumimoji="1" lang="ja-JP" altLang="en-US"/>
              <a:t>見た目が違う</a:t>
            </a:r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484B8744-7F7E-9075-A842-FA817B2B79A0}"/>
              </a:ext>
            </a:extLst>
          </p:cNvPr>
          <p:cNvCxnSpPr/>
          <p:nvPr/>
        </p:nvCxnSpPr>
        <p:spPr>
          <a:xfrm flipV="1">
            <a:off x="3042458" y="4337278"/>
            <a:ext cx="399011" cy="1813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74F0AD8E-D23A-EF79-8F0B-A7C77AF82D42}"/>
              </a:ext>
            </a:extLst>
          </p:cNvPr>
          <p:cNvCxnSpPr>
            <a:cxnSpLocks/>
          </p:cNvCxnSpPr>
          <p:nvPr/>
        </p:nvCxnSpPr>
        <p:spPr>
          <a:xfrm>
            <a:off x="3065317" y="4984329"/>
            <a:ext cx="353291" cy="2327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69411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1536AE-8797-90CB-94AC-5D423FC0C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パッチ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70689A9-C3A2-87CD-20DB-B51BC6D6EF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隣接ピクセルにレイを飛ばしたときの平面との交点を計算</a:t>
            </a:r>
            <a:endParaRPr kumimoji="1" lang="en-US" altLang="ja-JP"/>
          </a:p>
          <a:p>
            <a:r>
              <a:rPr lang="en-US" altLang="ja-JP"/>
              <a:t>uv</a:t>
            </a:r>
            <a:r>
              <a:rPr lang="ja-JP" altLang="en-US"/>
              <a:t>空間での位置に変換</a:t>
            </a:r>
            <a:endParaRPr kumimoji="1" lang="en-US" altLang="ja-JP"/>
          </a:p>
          <a:p>
            <a:r>
              <a:rPr kumimoji="1" lang="ja-JP" altLang="en-US"/>
              <a:t>長軸を楕円の主軸として</a:t>
            </a:r>
            <a:r>
              <a:rPr lang="ja-JP" altLang="en-US"/>
              <a:t>副軸を求める</a:t>
            </a:r>
            <a:endParaRPr kumimoji="1" lang="ja-JP" altLang="en-US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91DD75B9-DDC1-F180-17D3-CA0BBDDDC8DB}"/>
              </a:ext>
            </a:extLst>
          </p:cNvPr>
          <p:cNvGrpSpPr/>
          <p:nvPr/>
        </p:nvGrpSpPr>
        <p:grpSpPr>
          <a:xfrm>
            <a:off x="4883216" y="3762809"/>
            <a:ext cx="2425567" cy="2549091"/>
            <a:chOff x="1472665" y="2517808"/>
            <a:chExt cx="2425567" cy="2549091"/>
          </a:xfrm>
        </p:grpSpPr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06B7E5FB-07E6-8869-489E-DAE20AD041E7}"/>
                </a:ext>
              </a:extLst>
            </p:cNvPr>
            <p:cNvCxnSpPr/>
            <p:nvPr/>
          </p:nvCxnSpPr>
          <p:spPr>
            <a:xfrm>
              <a:off x="1472665" y="3792354"/>
              <a:ext cx="242556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63304290-3EA0-BDF3-D458-8FE5ACBE40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5718" y="2517808"/>
              <a:ext cx="0" cy="25490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DED82560-620D-96FE-56EE-6819F14AF054}"/>
                </a:ext>
              </a:extLst>
            </p:cNvPr>
            <p:cNvSpPr/>
            <p:nvPr/>
          </p:nvSpPr>
          <p:spPr>
            <a:xfrm>
              <a:off x="2537059" y="3693694"/>
              <a:ext cx="197317" cy="19731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EC08F8CD-CFCF-010E-019A-D4F4C6467D38}"/>
                </a:ext>
              </a:extLst>
            </p:cNvPr>
            <p:cNvSpPr/>
            <p:nvPr/>
          </p:nvSpPr>
          <p:spPr>
            <a:xfrm>
              <a:off x="3118986" y="3693693"/>
              <a:ext cx="197317" cy="19731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楕円 9">
              <a:extLst>
                <a:ext uri="{FF2B5EF4-FFF2-40B4-BE49-F238E27FC236}">
                  <a16:creationId xmlns:a16="http://schemas.microsoft.com/office/drawing/2014/main" id="{D8B20ECD-5B49-DF3C-B5DE-0E2456677149}"/>
                </a:ext>
              </a:extLst>
            </p:cNvPr>
            <p:cNvSpPr/>
            <p:nvPr/>
          </p:nvSpPr>
          <p:spPr>
            <a:xfrm>
              <a:off x="2921669" y="2611672"/>
              <a:ext cx="197317" cy="19731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楕円 10">
              <a:extLst>
                <a:ext uri="{FF2B5EF4-FFF2-40B4-BE49-F238E27FC236}">
                  <a16:creationId xmlns:a16="http://schemas.microsoft.com/office/drawing/2014/main" id="{94BEB406-52F9-00AC-DD30-0885AFA2B1C7}"/>
                </a:ext>
              </a:extLst>
            </p:cNvPr>
            <p:cNvSpPr/>
            <p:nvPr/>
          </p:nvSpPr>
          <p:spPr>
            <a:xfrm>
              <a:off x="1955130" y="3693692"/>
              <a:ext cx="197317" cy="197317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E4C55E6B-BFA0-B428-BE1F-576B40D093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70125" y="2708275"/>
              <a:ext cx="742950" cy="2152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楕円 15">
              <a:extLst>
                <a:ext uri="{FF2B5EF4-FFF2-40B4-BE49-F238E27FC236}">
                  <a16:creationId xmlns:a16="http://schemas.microsoft.com/office/drawing/2014/main" id="{DBAF0F6F-7F5E-99A5-3819-30F80573DC30}"/>
                </a:ext>
              </a:extLst>
            </p:cNvPr>
            <p:cNvSpPr/>
            <p:nvPr/>
          </p:nvSpPr>
          <p:spPr>
            <a:xfrm>
              <a:off x="2155626" y="4747947"/>
              <a:ext cx="197317" cy="197317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D2EC1140-CF88-CF02-9384-C4C03803C984}"/>
                </a:ext>
              </a:extLst>
            </p:cNvPr>
            <p:cNvSpPr/>
            <p:nvPr/>
          </p:nvSpPr>
          <p:spPr>
            <a:xfrm rot="1153812">
              <a:off x="2076817" y="2659254"/>
              <a:ext cx="1113254" cy="22627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211902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254BC6-F347-9F8B-7849-168685CF6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SDF </a:t>
            </a:r>
            <a:r>
              <a:rPr kumimoji="1" lang="ja-JP" altLang="en-US"/>
              <a:t>の正規化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993E1325-8E31-1726-5C10-695EFF5A5C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ja-JP" altLang="en-US"/>
                  <a:t>積分値</a:t>
                </a:r>
                <a14:m>
                  <m:oMath xmlns:m="http://schemas.openxmlformats.org/officeDocument/2006/math"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ja-JP" altLang="en-US"/>
                  <a:t>で除算</a:t>
                </a:r>
                <a:endParaRPr lang="en-US" altLang="ja-JP"/>
              </a:p>
              <a:p>
                <a:pPr lvl="8"/>
                <a:endParaRPr lang="en-US" altLang="ja-JP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ja-JP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ja-JP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𝑥</m:t>
                      </m:r>
                      <m:nary>
                        <m:naryPr>
                          <m:chr m:val="∑"/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nary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ja-JP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ja-JP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𝑥</m:t>
                      </m:r>
                      <m:nary>
                        <m:naryPr>
                          <m:chr m:val="∑"/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altLang="ja-JP"/>
              </a:p>
              <a:p>
                <a:pPr lvl="8"/>
                <a:endParaRPr lang="en-US" altLang="ja-JP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ja-JP" altLang="en-US"/>
                  <a:t>は含めず</a:t>
                </a:r>
                <a:r>
                  <a:rPr lang="en-US" altLang="ja-JP"/>
                  <a:t>unorm</a:t>
                </a:r>
                <a:r>
                  <a:rPr lang="ja-JP" altLang="en-US"/>
                  <a:t>で保存し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ja-JP" altLang="en-US"/>
                  <a:t>を後で除算</a:t>
                </a:r>
                <a:endParaRPr lang="en-US" altLang="ja-JP"/>
              </a:p>
              <a:p>
                <a:endParaRPr kumimoji="1" lang="en-US" altLang="ja-JP"/>
              </a:p>
              <a:p>
                <a:endParaRPr lang="en-US" altLang="ja-JP"/>
              </a:p>
              <a:p>
                <a:endParaRPr kumimoji="1" lang="en-US" altLang="ja-JP"/>
              </a:p>
              <a:p>
                <a:endParaRPr lang="en-US" altLang="ja-JP"/>
              </a:p>
              <a:p>
                <a:endParaRPr kumimoji="1" lang="ja-JP" altLang="en-US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993E1325-8E31-1726-5C10-695EFF5A5C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6E1DD2DD-A570-45E4-660F-1D3B86A441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2328233"/>
              </p:ext>
            </p:extLst>
          </p:nvPr>
        </p:nvGraphicFramePr>
        <p:xfrm>
          <a:off x="8098310" y="4545188"/>
          <a:ext cx="3672000" cy="3657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18000">
                  <a:extLst>
                    <a:ext uri="{9D8B030D-6E8A-4147-A177-3AD203B41FA5}">
                      <a16:colId xmlns:a16="http://schemas.microsoft.com/office/drawing/2014/main" val="2801293580"/>
                    </a:ext>
                  </a:extLst>
                </a:gridCol>
                <a:gridCol w="918000">
                  <a:extLst>
                    <a:ext uri="{9D8B030D-6E8A-4147-A177-3AD203B41FA5}">
                      <a16:colId xmlns:a16="http://schemas.microsoft.com/office/drawing/2014/main" val="1210503514"/>
                    </a:ext>
                  </a:extLst>
                </a:gridCol>
                <a:gridCol w="918000">
                  <a:extLst>
                    <a:ext uri="{9D8B030D-6E8A-4147-A177-3AD203B41FA5}">
                      <a16:colId xmlns:a16="http://schemas.microsoft.com/office/drawing/2014/main" val="1577042054"/>
                    </a:ext>
                  </a:extLst>
                </a:gridCol>
                <a:gridCol w="918000">
                  <a:extLst>
                    <a:ext uri="{9D8B030D-6E8A-4147-A177-3AD203B41FA5}">
                      <a16:colId xmlns:a16="http://schemas.microsoft.com/office/drawing/2014/main" val="198250367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5022225"/>
                  </a:ext>
                </a:extLst>
              </a:tr>
            </a:tbl>
          </a:graphicData>
        </a:graphic>
      </p:graphicFrame>
      <p:sp>
        <p:nvSpPr>
          <p:cNvPr id="5" name="楕円 4">
            <a:extLst>
              <a:ext uri="{FF2B5EF4-FFF2-40B4-BE49-F238E27FC236}">
                <a16:creationId xmlns:a16="http://schemas.microsoft.com/office/drawing/2014/main" id="{D23F369A-8C83-7527-4528-2456A92324F7}"/>
              </a:ext>
            </a:extLst>
          </p:cNvPr>
          <p:cNvSpPr/>
          <p:nvPr/>
        </p:nvSpPr>
        <p:spPr>
          <a:xfrm>
            <a:off x="8451128" y="4638068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FA619AFD-5BF4-EE01-B773-756566F633F2}"/>
              </a:ext>
            </a:extLst>
          </p:cNvPr>
          <p:cNvSpPr/>
          <p:nvPr/>
        </p:nvSpPr>
        <p:spPr>
          <a:xfrm>
            <a:off x="9384676" y="4638068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8F1C7F40-4C38-F6B3-9338-960468F72E9B}"/>
              </a:ext>
            </a:extLst>
          </p:cNvPr>
          <p:cNvSpPr/>
          <p:nvPr/>
        </p:nvSpPr>
        <p:spPr>
          <a:xfrm>
            <a:off x="10287932" y="4638068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B93C6F85-D125-E0AD-7D88-17361142D293}"/>
              </a:ext>
            </a:extLst>
          </p:cNvPr>
          <p:cNvSpPr/>
          <p:nvPr/>
        </p:nvSpPr>
        <p:spPr>
          <a:xfrm>
            <a:off x="11221480" y="4638068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C5050915-3630-E2A5-7ADF-DE18615DB75E}"/>
              </a:ext>
            </a:extLst>
          </p:cNvPr>
          <p:cNvCxnSpPr/>
          <p:nvPr/>
        </p:nvCxnSpPr>
        <p:spPr>
          <a:xfrm flipV="1">
            <a:off x="8098310" y="4545188"/>
            <a:ext cx="0" cy="1457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D823FEC-3706-4E35-15BD-167C35D2DF64}"/>
              </a:ext>
            </a:extLst>
          </p:cNvPr>
          <p:cNvCxnSpPr/>
          <p:nvPr/>
        </p:nvCxnSpPr>
        <p:spPr>
          <a:xfrm flipV="1">
            <a:off x="8541128" y="4545188"/>
            <a:ext cx="0" cy="1457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CB69AA8A-F76E-19B7-F52A-62688531C995}"/>
              </a:ext>
            </a:extLst>
          </p:cNvPr>
          <p:cNvCxnSpPr/>
          <p:nvPr/>
        </p:nvCxnSpPr>
        <p:spPr>
          <a:xfrm flipV="1">
            <a:off x="9463738" y="4545188"/>
            <a:ext cx="0" cy="1457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918E08DB-4E50-6936-FDD3-351FFB15DDD1}"/>
              </a:ext>
            </a:extLst>
          </p:cNvPr>
          <p:cNvCxnSpPr/>
          <p:nvPr/>
        </p:nvCxnSpPr>
        <p:spPr>
          <a:xfrm flipV="1">
            <a:off x="10377932" y="4545188"/>
            <a:ext cx="0" cy="1457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52F6C60D-C359-0ED8-CA78-EB984691792C}"/>
              </a:ext>
            </a:extLst>
          </p:cNvPr>
          <p:cNvCxnSpPr/>
          <p:nvPr/>
        </p:nvCxnSpPr>
        <p:spPr>
          <a:xfrm flipV="1">
            <a:off x="11311480" y="4545188"/>
            <a:ext cx="0" cy="1457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D5940EF9-529D-462E-75C3-0DA1584A0883}"/>
              </a:ext>
            </a:extLst>
          </p:cNvPr>
          <p:cNvCxnSpPr/>
          <p:nvPr/>
        </p:nvCxnSpPr>
        <p:spPr>
          <a:xfrm flipV="1">
            <a:off x="11770310" y="4545188"/>
            <a:ext cx="0" cy="1457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22174F37-FE31-EB71-A426-2F193BE7B435}"/>
              </a:ext>
            </a:extLst>
          </p:cNvPr>
          <p:cNvCxnSpPr>
            <a:cxnSpLocks/>
          </p:cNvCxnSpPr>
          <p:nvPr/>
        </p:nvCxnSpPr>
        <p:spPr>
          <a:xfrm>
            <a:off x="8541128" y="5561188"/>
            <a:ext cx="92261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5FD670D4-1FB4-8201-71D9-8173AED2B712}"/>
              </a:ext>
            </a:extLst>
          </p:cNvPr>
          <p:cNvCxnSpPr>
            <a:cxnSpLocks/>
          </p:cNvCxnSpPr>
          <p:nvPr/>
        </p:nvCxnSpPr>
        <p:spPr>
          <a:xfrm>
            <a:off x="9474676" y="5561188"/>
            <a:ext cx="9032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C134763A-ED88-F781-F5A0-D4F99EA40A93}"/>
              </a:ext>
            </a:extLst>
          </p:cNvPr>
          <p:cNvCxnSpPr>
            <a:cxnSpLocks/>
          </p:cNvCxnSpPr>
          <p:nvPr/>
        </p:nvCxnSpPr>
        <p:spPr>
          <a:xfrm>
            <a:off x="10377932" y="5562881"/>
            <a:ext cx="93354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A39B7641-2A89-4359-800A-D0E06F8B8B75}"/>
              </a:ext>
            </a:extLst>
          </p:cNvPr>
          <p:cNvCxnSpPr>
            <a:cxnSpLocks/>
          </p:cNvCxnSpPr>
          <p:nvPr/>
        </p:nvCxnSpPr>
        <p:spPr>
          <a:xfrm>
            <a:off x="11311480" y="5561188"/>
            <a:ext cx="45883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7137E33-CF2A-2E5A-9B1C-7B4D324CEBC3}"/>
              </a:ext>
            </a:extLst>
          </p:cNvPr>
          <p:cNvCxnSpPr>
            <a:cxnSpLocks/>
          </p:cNvCxnSpPr>
          <p:nvPr/>
        </p:nvCxnSpPr>
        <p:spPr>
          <a:xfrm>
            <a:off x="8082298" y="5561188"/>
            <a:ext cx="45883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65464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853CF9-0C48-86E2-6AA5-722E3F8E1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重点的サンプリング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810751A4-F67C-03E1-C6F4-111881BA70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627164" cy="4351338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kumimoji="1" lang="en-US" altLang="ja-JP" sz="2400"/>
                  <a:t>SDF</a:t>
                </a:r>
                <a:r>
                  <a:rPr kumimoji="1" lang="ja-JP" altLang="en-US" sz="2400"/>
                  <a:t>テーブルはバイリニア補間</a:t>
                </a:r>
                <a:r>
                  <a:rPr lang="ja-JP" altLang="en-US" sz="2400"/>
                  <a:t>（端はクランプ）</a:t>
                </a:r>
                <a:endParaRPr lang="en-US" altLang="ja-JP" sz="2400"/>
              </a:p>
              <a:p>
                <a:r>
                  <a:rPr kumimoji="1" lang="ja-JP" altLang="en-US" sz="2400"/>
                  <a:t>区間をサンプリング⇒区間内をサンプリング</a:t>
                </a:r>
                <a:endParaRPr kumimoji="1" lang="en-US" altLang="ja-JP" sz="2400"/>
              </a:p>
              <a:p>
                <a:pPr lvl="1"/>
                <a:r>
                  <a:rPr lang="ja-JP" altLang="en-US" sz="2000"/>
                  <a:t>区間数はテーブル解像度＋１</a:t>
                </a:r>
                <a:endParaRPr kumimoji="1" lang="en-US" altLang="ja-JP" sz="2000"/>
              </a:p>
              <a:p>
                <a:r>
                  <a:rPr lang="ja-JP" altLang="en-US" sz="2400"/>
                  <a:t>各区間の重みは積分値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endParaRPr lang="en-US" altLang="ja-JP" sz="2400" i="1"/>
              </a:p>
              <a:p>
                <a:pPr lvl="1"/>
                <a:r>
                  <a:rPr lang="ja-JP" altLang="en-US" sz="2000"/>
                  <a:t>区間端は区間幅が半分なのに注意</a:t>
                </a:r>
                <a:endParaRPr lang="en-US" altLang="ja-JP" sz="2000"/>
              </a:p>
              <a:p>
                <a:r>
                  <a:rPr lang="ja-JP" altLang="en-US" sz="2400"/>
                  <a:t>区間内のサンプリング</a:t>
                </a:r>
                <a:endParaRPr lang="en-US" altLang="ja-JP" sz="2400"/>
              </a:p>
              <a:p>
                <a:endParaRPr lang="en-US" altLang="ja-JP" sz="240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altLang="ja-JP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ad>
                            <m:radPr>
                              <m:degHide m:val="on"/>
                              <m:ctrl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Sup>
                                <m:sSubSupPr>
                                  <m:ctrlP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  <m:sup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en-US" altLang="ja-JP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  <m:sup>
                                      <m:r>
                                        <a:rPr lang="en-US" altLang="ja-JP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r>
                                    <a:rPr lang="en-US" altLang="ja-JP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rad>
                        </m:num>
                        <m:den>
                          <m:sSub>
                            <m:sSubPr>
                              <m:ctrl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ja-JP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ja-JP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den>
                      </m:f>
                    </m:oMath>
                    <m:oMath xmlns:m="http://schemas.openxmlformats.org/officeDocument/2006/math"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ja-JP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ja-JP" altLang="en-US" sz="2400" i="1">
                          <a:latin typeface="Cambria Math" panose="02040503050406030204" pitchFamily="18" charset="0"/>
                        </a:rPr>
                        <m:t>のとき</m:t>
                      </m:r>
                      <m:r>
                        <a:rPr lang="ja-JP" altLang="en-US" sz="2400" i="1" smtClean="0">
                          <a:latin typeface="Cambria Math" panose="02040503050406030204" pitchFamily="18" charset="0"/>
                        </a:rPr>
                        <m:t>　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altLang="ja-JP" sz="2400"/>
              </a:p>
              <a:p>
                <a:endParaRPr lang="en-US" altLang="ja-JP" sz="2400"/>
              </a:p>
              <a:p>
                <a:endParaRPr lang="en-US" altLang="ja-JP" sz="2400"/>
              </a:p>
              <a:p>
                <a:endParaRPr kumimoji="1" lang="en-US" altLang="ja-JP" sz="2400"/>
              </a:p>
              <a:p>
                <a:endParaRPr lang="en-US" altLang="ja-JP" sz="2400"/>
              </a:p>
              <a:p>
                <a:endParaRPr kumimoji="1" lang="en-US" altLang="ja-JP" sz="2400"/>
              </a:p>
              <a:p>
                <a:endParaRPr lang="en-US" altLang="ja-JP" sz="2400"/>
              </a:p>
              <a:p>
                <a:endParaRPr kumimoji="1" lang="en-US" altLang="ja-JP" sz="2400"/>
              </a:p>
              <a:p>
                <a:endParaRPr lang="en-US" altLang="ja-JP" sz="2400"/>
              </a:p>
              <a:p>
                <a:endParaRPr kumimoji="1" lang="ja-JP" altLang="en-US" sz="2400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810751A4-F67C-03E1-C6F4-111881BA70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627164" cy="4351338"/>
              </a:xfrm>
              <a:blipFill>
                <a:blip r:embed="rId2"/>
                <a:stretch>
                  <a:fillRect l="-959" t="-224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FD2CB336-A6CF-E5CF-09A3-7BEFE184F6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0948015"/>
              </p:ext>
            </p:extLst>
          </p:nvPr>
        </p:nvGraphicFramePr>
        <p:xfrm>
          <a:off x="7956908" y="3781617"/>
          <a:ext cx="3672000" cy="3657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918000">
                  <a:extLst>
                    <a:ext uri="{9D8B030D-6E8A-4147-A177-3AD203B41FA5}">
                      <a16:colId xmlns:a16="http://schemas.microsoft.com/office/drawing/2014/main" val="2801293580"/>
                    </a:ext>
                  </a:extLst>
                </a:gridCol>
                <a:gridCol w="918000">
                  <a:extLst>
                    <a:ext uri="{9D8B030D-6E8A-4147-A177-3AD203B41FA5}">
                      <a16:colId xmlns:a16="http://schemas.microsoft.com/office/drawing/2014/main" val="1210503514"/>
                    </a:ext>
                  </a:extLst>
                </a:gridCol>
                <a:gridCol w="918000">
                  <a:extLst>
                    <a:ext uri="{9D8B030D-6E8A-4147-A177-3AD203B41FA5}">
                      <a16:colId xmlns:a16="http://schemas.microsoft.com/office/drawing/2014/main" val="1577042054"/>
                    </a:ext>
                  </a:extLst>
                </a:gridCol>
                <a:gridCol w="918000">
                  <a:extLst>
                    <a:ext uri="{9D8B030D-6E8A-4147-A177-3AD203B41FA5}">
                      <a16:colId xmlns:a16="http://schemas.microsoft.com/office/drawing/2014/main" val="198250367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5022225"/>
                  </a:ext>
                </a:extLst>
              </a:tr>
            </a:tbl>
          </a:graphicData>
        </a:graphic>
      </p:graphicFrame>
      <p:sp>
        <p:nvSpPr>
          <p:cNvPr id="5" name="楕円 4">
            <a:extLst>
              <a:ext uri="{FF2B5EF4-FFF2-40B4-BE49-F238E27FC236}">
                <a16:creationId xmlns:a16="http://schemas.microsoft.com/office/drawing/2014/main" id="{A5929EB4-1F14-D2CC-3FB5-46197521DA25}"/>
              </a:ext>
            </a:extLst>
          </p:cNvPr>
          <p:cNvSpPr/>
          <p:nvPr/>
        </p:nvSpPr>
        <p:spPr>
          <a:xfrm>
            <a:off x="8309726" y="3874497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18D96C72-1A2C-1BAD-F284-70B427DB6037}"/>
              </a:ext>
            </a:extLst>
          </p:cNvPr>
          <p:cNvSpPr/>
          <p:nvPr/>
        </p:nvSpPr>
        <p:spPr>
          <a:xfrm>
            <a:off x="9243274" y="3874497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3102EEBC-C855-7855-F8F8-D35AAC92144C}"/>
              </a:ext>
            </a:extLst>
          </p:cNvPr>
          <p:cNvSpPr/>
          <p:nvPr/>
        </p:nvSpPr>
        <p:spPr>
          <a:xfrm>
            <a:off x="10146530" y="3874497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5AAFD235-9D97-AA5E-A9B5-41F14B2ECBAB}"/>
              </a:ext>
            </a:extLst>
          </p:cNvPr>
          <p:cNvSpPr/>
          <p:nvPr/>
        </p:nvSpPr>
        <p:spPr>
          <a:xfrm>
            <a:off x="11080078" y="3874497"/>
            <a:ext cx="180000" cy="18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16745A10-8B98-ABCB-A1BC-590660E7161A}"/>
              </a:ext>
            </a:extLst>
          </p:cNvPr>
          <p:cNvCxnSpPr/>
          <p:nvPr/>
        </p:nvCxnSpPr>
        <p:spPr>
          <a:xfrm flipV="1">
            <a:off x="7956908" y="3781617"/>
            <a:ext cx="0" cy="1457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B0E4155C-7733-0D59-AB34-2E7FF4058E5C}"/>
              </a:ext>
            </a:extLst>
          </p:cNvPr>
          <p:cNvCxnSpPr/>
          <p:nvPr/>
        </p:nvCxnSpPr>
        <p:spPr>
          <a:xfrm flipV="1">
            <a:off x="8399726" y="3781617"/>
            <a:ext cx="0" cy="1457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D90DE522-1A3F-780C-F765-D5F6C75BFF23}"/>
              </a:ext>
            </a:extLst>
          </p:cNvPr>
          <p:cNvCxnSpPr/>
          <p:nvPr/>
        </p:nvCxnSpPr>
        <p:spPr>
          <a:xfrm flipV="1">
            <a:off x="9322336" y="3781617"/>
            <a:ext cx="0" cy="1457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62C3DE64-8EA4-6B84-F615-1A3EBCB4E24A}"/>
              </a:ext>
            </a:extLst>
          </p:cNvPr>
          <p:cNvCxnSpPr/>
          <p:nvPr/>
        </p:nvCxnSpPr>
        <p:spPr>
          <a:xfrm flipV="1">
            <a:off x="10236530" y="3781617"/>
            <a:ext cx="0" cy="1457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E8561267-B921-3AA0-A54E-0B49412E1F3F}"/>
              </a:ext>
            </a:extLst>
          </p:cNvPr>
          <p:cNvCxnSpPr/>
          <p:nvPr/>
        </p:nvCxnSpPr>
        <p:spPr>
          <a:xfrm flipV="1">
            <a:off x="11170078" y="3781617"/>
            <a:ext cx="0" cy="1457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82FC2C4-F36A-4DB9-3419-67D6ABB43486}"/>
              </a:ext>
            </a:extLst>
          </p:cNvPr>
          <p:cNvCxnSpPr/>
          <p:nvPr/>
        </p:nvCxnSpPr>
        <p:spPr>
          <a:xfrm flipV="1">
            <a:off x="11628908" y="3781617"/>
            <a:ext cx="0" cy="14579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B70E9249-D5EC-DEB7-881C-11AE2F780FDC}"/>
              </a:ext>
            </a:extLst>
          </p:cNvPr>
          <p:cNvCxnSpPr>
            <a:cxnSpLocks/>
          </p:cNvCxnSpPr>
          <p:nvPr/>
        </p:nvCxnSpPr>
        <p:spPr>
          <a:xfrm>
            <a:off x="8399726" y="4797617"/>
            <a:ext cx="92261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8E5BABC-0CF7-E0D8-0C7D-FC711DFA5CEB}"/>
              </a:ext>
            </a:extLst>
          </p:cNvPr>
          <p:cNvCxnSpPr>
            <a:cxnSpLocks/>
          </p:cNvCxnSpPr>
          <p:nvPr/>
        </p:nvCxnSpPr>
        <p:spPr>
          <a:xfrm>
            <a:off x="9333274" y="4797617"/>
            <a:ext cx="9032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38E05A7-D75B-D99E-6124-5DC86E440CE6}"/>
              </a:ext>
            </a:extLst>
          </p:cNvPr>
          <p:cNvCxnSpPr>
            <a:cxnSpLocks/>
          </p:cNvCxnSpPr>
          <p:nvPr/>
        </p:nvCxnSpPr>
        <p:spPr>
          <a:xfrm>
            <a:off x="10236530" y="4799310"/>
            <a:ext cx="93354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31A4EBE0-A62A-B00F-710A-58293AC389CA}"/>
              </a:ext>
            </a:extLst>
          </p:cNvPr>
          <p:cNvCxnSpPr>
            <a:cxnSpLocks/>
          </p:cNvCxnSpPr>
          <p:nvPr/>
        </p:nvCxnSpPr>
        <p:spPr>
          <a:xfrm>
            <a:off x="11170078" y="4797617"/>
            <a:ext cx="45883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4996068C-22D9-6677-5709-BF4A5D1FB978}"/>
              </a:ext>
            </a:extLst>
          </p:cNvPr>
          <p:cNvCxnSpPr>
            <a:cxnSpLocks/>
          </p:cNvCxnSpPr>
          <p:nvPr/>
        </p:nvCxnSpPr>
        <p:spPr>
          <a:xfrm>
            <a:off x="7940896" y="4797617"/>
            <a:ext cx="45883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51457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BACD03EA-442E-B495-73A0-230EB26C91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753533"/>
                <a:ext cx="10515600" cy="5423430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𝑡</m:t>
                      </m:r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  <m:oMath xmlns:m="http://schemas.openxmlformats.org/officeDocument/2006/math">
                      <m:r>
                        <a:rPr lang="en-US" altLang="ja-JP" i="1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num>
                        <m:den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  <m:oMath xmlns:m="http://schemas.openxmlformats.org/officeDocument/2006/math">
                      <m:r>
                        <a:rPr lang="en-US" altLang="ja-JP" i="1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nary>
                        <m:nary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p>
                            <m:sSup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p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d>
                        <m:d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sSup>
                            <m:sSup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′2</m:t>
                              </m:r>
                            </m:sup>
                          </m:sSup>
                        </m:e>
                      </m:d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𝑢</m:t>
                      </m:r>
                    </m:oMath>
                    <m:oMath xmlns:m="http://schemas.openxmlformats.org/officeDocument/2006/math">
                      <m:r>
                        <a:rPr lang="en-US" altLang="ja-JP" i="1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num>
                        <m:den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′2</m:t>
                          </m:r>
                        </m:sup>
                      </m:sSup>
                      <m:r>
                        <a:rPr lang="en-US" altLang="ja-JP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ja-JP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𝑢𝑍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=0</m:t>
                      </m:r>
                    </m:oMath>
                    <m:oMath xmlns:m="http://schemas.openxmlformats.org/officeDocument/2006/math">
                      <m:r>
                        <a:rPr lang="en-US" altLang="ja-JP" i="1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+</m:t>
                          </m:r>
                          <m:rad>
                            <m:radPr>
                              <m:degHide m:val="on"/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Sup>
                                <m:sSubSup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  <m:sup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𝑢𝑍</m:t>
                              </m:r>
                            </m:e>
                          </m:rad>
                        </m:num>
                        <m:den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den>
                      </m:f>
                      <m:r>
                        <a:rPr lang="en-US" altLang="ja-JP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+</m:t>
                          </m:r>
                          <m:rad>
                            <m:radPr>
                              <m:degHide m:val="on"/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Sup>
                                <m:sSubSup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  <m:sup>
                                  <m: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ja-JP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altLang="ja-JP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  <m:r>
                                        <a:rPr lang="en-US" altLang="ja-JP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ja-JP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altLang="ja-JP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altLang="ja-JP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  <m:sup>
                                          <m:r>
                                            <a:rPr lang="en-US" altLang="ja-JP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num>
                                <m:den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rad>
                        </m:num>
                        <m:den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den>
                      </m:f>
                    </m:oMath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ja-JP" altLang="en-US" i="1">
                          <a:latin typeface="Cambria Math" panose="02040503050406030204" pitchFamily="18" charset="0"/>
                        </a:rPr>
                        <m:t>のとき</m:t>
                      </m:r>
                      <m:r>
                        <a:rPr lang="ja-JP" altLang="en-US" i="1" smtClean="0">
                          <a:latin typeface="Cambria Math" panose="02040503050406030204" pitchFamily="18" charset="0"/>
                        </a:rPr>
                        <m:t>　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ja-JP" altLang="en-US"/>
              </a:p>
              <a:p>
                <a:endParaRPr kumimoji="1" lang="ja-JP" altLang="en-US"/>
              </a:p>
            </p:txBody>
          </p:sp>
        </mc:Choice>
        <mc:Fallback xmlns="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BACD03EA-442E-B495-73A0-230EB26C91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753533"/>
                <a:ext cx="10515600" cy="542343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92288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42220</TotalTime>
  <Words>868</Words>
  <Application>Microsoft Office PowerPoint</Application>
  <PresentationFormat>ワイド画面</PresentationFormat>
  <Paragraphs>141</Paragraphs>
  <Slides>17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3" baseType="lpstr">
      <vt:lpstr>游ゴシック</vt:lpstr>
      <vt:lpstr>Arial</vt:lpstr>
      <vt:lpstr>Calibri</vt:lpstr>
      <vt:lpstr>Calibri Light</vt:lpstr>
      <vt:lpstr>Cambria Math</vt:lpstr>
      <vt:lpstr>Office テーマ</vt:lpstr>
      <vt:lpstr>Procedural Physically based BRDF for Real-Time Rendering of Glints</vt:lpstr>
      <vt:lpstr>概要</vt:lpstr>
      <vt:lpstr>Slope Distribution Function</vt:lpstr>
      <vt:lpstr>PowerPoint プレゼンテーション</vt:lpstr>
      <vt:lpstr>Slope Distribution Function</vt:lpstr>
      <vt:lpstr>LOD</vt:lpstr>
      <vt:lpstr>Beckamnn NDF</vt:lpstr>
      <vt:lpstr>LOD</vt:lpstr>
      <vt:lpstr>多様化</vt:lpstr>
      <vt:lpstr>Patch BRDF</vt:lpstr>
      <vt:lpstr>重点的サンプリング</vt:lpstr>
      <vt:lpstr>パッチ</vt:lpstr>
      <vt:lpstr>パッチ</vt:lpstr>
      <vt:lpstr>パッチ</vt:lpstr>
      <vt:lpstr>SDF の正規化</vt:lpstr>
      <vt:lpstr>重点的サンプリング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豪祐 名畑</dc:creator>
  <cp:lastModifiedBy>豪祐 名畑</cp:lastModifiedBy>
  <cp:revision>9</cp:revision>
  <dcterms:created xsi:type="dcterms:W3CDTF">2025-05-22T15:32:27Z</dcterms:created>
  <dcterms:modified xsi:type="dcterms:W3CDTF">2025-07-05T08:01:02Z</dcterms:modified>
</cp:coreProperties>
</file>